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1" roundtripDataSignature="AMtx7mjWbVzeBfiMO2VKYaHNqQSdMpvC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A2B658-85C6-4B38-A447-C05B49B52E79}">
  <a:tblStyle styleId="{0FA2B658-85C6-4B38-A447-C05B49B52E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`` = command substitution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${} = parameter (variable) expansion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`` = command substitution</a:t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1" name="Google Shape;28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7" name="Google Shape;287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4" name="Google Shape;29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1" name="Google Shape;32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366f654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3366f654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13366f6546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337038704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337038704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1337038704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37038704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37038704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1337038704b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Bash scripting</a:t>
            </a:r>
            <a:endParaRPr/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1981200" y="1600201"/>
            <a:ext cx="82296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script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written text of a play, movie, or broadcast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Utilized by interpreted computer languages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set executed at run-time by program	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Shells (i.e., Bash), Julia, Lua, Perl, Python, R, Ruby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Human-readable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one to dissect the “action”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00" name="Google Shape;100;p3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01" name="Google Shape;101;p3"/>
          <p:cNvSpPr txBox="1"/>
          <p:nvPr/>
        </p:nvSpPr>
        <p:spPr>
          <a:xfrm>
            <a:off x="2943225" y="3382962"/>
            <a:ext cx="57642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in top-&gt;bottom, left-&gt;right fashion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 flipH="1" rot="-5400000">
            <a:off x="5363369" y="-90566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cxnSp>
        <p:nvCxnSpPr>
          <p:cNvPr id="103" name="Google Shape;103;p3"/>
          <p:cNvCxnSpPr/>
          <p:nvPr/>
        </p:nvCxnSpPr>
        <p:spPr>
          <a:xfrm flipH="1" rot="-5400000">
            <a:off x="5363369" y="-551656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cxnSp>
        <p:nvCxnSpPr>
          <p:cNvPr id="104" name="Google Shape;104;p3"/>
          <p:cNvCxnSpPr/>
          <p:nvPr/>
        </p:nvCxnSpPr>
        <p:spPr>
          <a:xfrm flipH="1" rot="-5400000">
            <a:off x="5363369" y="-211931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10" name="Google Shape;110;p4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11" name="Google Shape;111;p4"/>
          <p:cNvSpPr txBox="1"/>
          <p:nvPr/>
        </p:nvSpPr>
        <p:spPr>
          <a:xfrm>
            <a:off x="2500297" y="1347775"/>
            <a:ext cx="2838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17" name="Google Shape;117;p5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cxnSp>
        <p:nvCxnSpPr>
          <p:cNvPr id="118" name="Google Shape;118;p5"/>
          <p:cNvCxnSpPr/>
          <p:nvPr/>
        </p:nvCxnSpPr>
        <p:spPr>
          <a:xfrm rot="10800000">
            <a:off x="4278313" y="1717676"/>
            <a:ext cx="808037" cy="87153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19" name="Google Shape;119;p5"/>
          <p:cNvSpPr txBox="1"/>
          <p:nvPr/>
        </p:nvSpPr>
        <p:spPr>
          <a:xfrm>
            <a:off x="4278312" y="2589212"/>
            <a:ext cx="6088062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“shebang” line: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tells the shell the absolute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the interpreted language binary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should be utilized to read the 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execute its actions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2500297" y="1347775"/>
            <a:ext cx="2838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26" name="Google Shape;126;p6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27" name="Google Shape;127;p6"/>
          <p:cNvSpPr txBox="1"/>
          <p:nvPr/>
        </p:nvSpPr>
        <p:spPr>
          <a:xfrm>
            <a:off x="2500297" y="1347775"/>
            <a:ext cx="3358636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my_name=drgarrison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 rot="10800000">
            <a:off x="4435476" y="2282826"/>
            <a:ext cx="642937" cy="75723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29" name="Google Shape;129;p6"/>
          <p:cNvSpPr txBox="1"/>
          <p:nvPr/>
        </p:nvSpPr>
        <p:spPr>
          <a:xfrm>
            <a:off x="3529012" y="3155950"/>
            <a:ext cx="6818312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Declare variable(s) early since you want them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prior to being calling, same for other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commands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</a:t>
            </a:r>
            <a:r>
              <a:rPr b="1" lang="en-US" sz="28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module load XXXXX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variables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object containing data used by one or more applications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$HOME,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$PATH,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User-set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anything, but best to not use names associated with env variables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 is typically use UPPER CASE letters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1804987" y="3925887"/>
            <a:ext cx="8405812" cy="24574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variables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object containing data used by one or more applications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$HOME, $PATH, $SHELL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printenv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User-set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anything, but DO NOT use names associated with 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 you think this is the case?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“Rules” when creating variables</a:t>
            </a:r>
            <a:endParaRPr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using all UPPERCASE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HOME, PATH, SHELL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start variables with numbers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1, 2, etc)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onetime vs. 1time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special characters other than 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$, @, %, &amp;, *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characters have language-specific meanings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https://google.github.io/styleguide/shell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dynamically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filename_${MTHYR}.tab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1809750" y="3394076"/>
            <a:ext cx="8636000" cy="33178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 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filename_${mthyr}.t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xt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variable</a:t>
            </a:r>
            <a:endParaRPr/>
          </a:p>
        </p:txBody>
      </p:sp>
      <p:sp>
        <p:nvSpPr>
          <p:cNvPr id="167" name="Google Shape;167;p12"/>
          <p:cNvSpPr txBox="1"/>
          <p:nvPr>
            <p:ph idx="1" type="body"/>
          </p:nvPr>
        </p:nvSpPr>
        <p:spPr>
          <a:xfrm>
            <a:off x="1787525" y="1600200"/>
            <a:ext cx="8659812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directly (i.e., </a:t>
            </a:r>
            <a:r>
              <a:rPr lang="en-US"/>
              <a:t>static variable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_dir=/blah/blah/blah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project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_dir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 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mthyr=`date | awk '{print ($2$6)}'`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filename_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{mthyr}.t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xt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73" name="Google Shape;173;p13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cxnSp>
        <p:nvCxnSpPr>
          <p:cNvPr id="174" name="Google Shape;174;p13"/>
          <p:cNvCxnSpPr/>
          <p:nvPr/>
        </p:nvCxnSpPr>
        <p:spPr>
          <a:xfrm rot="10800000">
            <a:off x="3376612" y="2771776"/>
            <a:ext cx="1701800" cy="175418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75" name="Google Shape;175;p13"/>
          <p:cNvSpPr txBox="1"/>
          <p:nvPr/>
        </p:nvSpPr>
        <p:spPr>
          <a:xfrm>
            <a:off x="3529013" y="4640262"/>
            <a:ext cx="7286625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command calls to be executed: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nearly anything you’ve been running line-by-line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added as-is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2500291" y="2401875"/>
            <a:ext cx="16218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3 ...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2500297" y="1347775"/>
            <a:ext cx="3358636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my_name=drgarrison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script</a:t>
            </a:r>
            <a:endParaRPr/>
          </a:p>
        </p:txBody>
      </p:sp>
      <p:cxnSp>
        <p:nvCxnSpPr>
          <p:cNvPr id="183" name="Google Shape;183;p14"/>
          <p:cNvCxnSpPr/>
          <p:nvPr/>
        </p:nvCxnSpPr>
        <p:spPr>
          <a:xfrm flipH="1">
            <a:off x="2809876" y="1417638"/>
            <a:ext cx="15875" cy="4979987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84" name="Google Shape;184;p14"/>
          <p:cNvSpPr txBox="1"/>
          <p:nvPr/>
        </p:nvSpPr>
        <p:spPr>
          <a:xfrm>
            <a:off x="2500293" y="2401875"/>
            <a:ext cx="1469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3 ...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2503488" y="3429001"/>
            <a:ext cx="60023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comments to someone reading the 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2500297" y="1347775"/>
            <a:ext cx="342637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my_name=drgarrison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192" name="Google Shape;192;p15"/>
          <p:cNvCxnSpPr/>
          <p:nvPr/>
        </p:nvCxnSpPr>
        <p:spPr>
          <a:xfrm flipH="1">
            <a:off x="2809876" y="1384300"/>
            <a:ext cx="15875" cy="24749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193" name="Google Shape;193;p15"/>
          <p:cNvSpPr txBox="1"/>
          <p:nvPr/>
        </p:nvSpPr>
        <p:spPr>
          <a:xfrm>
            <a:off x="2500312" y="1347788"/>
            <a:ext cx="46672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time=`date | awk '{print $4}'`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2500312" y="2401888"/>
            <a:ext cx="55610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2503488" y="2917825"/>
            <a:ext cx="73882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/>
        </p:nvSpPr>
        <p:spPr>
          <a:xfrm>
            <a:off x="2832101" y="4718050"/>
            <a:ext cx="670877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script,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chmod +x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script and execute with: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./script_name.sh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02" name="Google Shape;202;p16"/>
          <p:cNvCxnSpPr/>
          <p:nvPr/>
        </p:nvCxnSpPr>
        <p:spPr>
          <a:xfrm flipH="1">
            <a:off x="2809850" y="1384300"/>
            <a:ext cx="15900" cy="2475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647"/>
              </a:srgbClr>
            </a:outerShdw>
          </a:effectLst>
        </p:spPr>
      </p:cxnSp>
      <p:sp>
        <p:nvSpPr>
          <p:cNvPr id="203" name="Google Shape;203;p16"/>
          <p:cNvSpPr txBox="1"/>
          <p:nvPr/>
        </p:nvSpPr>
        <p:spPr>
          <a:xfrm>
            <a:off x="2500312" y="1347787"/>
            <a:ext cx="4667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time=`date | awk '{print $4}'`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2500312" y="2401887"/>
            <a:ext cx="5561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1981200" y="1600200"/>
            <a:ext cx="8331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3000"/>
          </a:p>
          <a:p>
            <a:pPr indent="0" lvl="1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Above is a dynamic example since it will change at runtime.  In contrast, below is static: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trinity_home=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/usr/local/genome/trinityrnaseq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/>
        </p:nvSpPr>
        <p:spPr>
          <a:xfrm>
            <a:off x="1712912" y="5772151"/>
            <a:ext cx="88455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dynamic or static variables “better”?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>
            <p:ph type="title"/>
          </p:nvPr>
        </p:nvSpPr>
        <p:spPr>
          <a:xfrm>
            <a:off x="1666875" y="274637"/>
            <a:ext cx="884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1981200" y="1600200"/>
            <a:ext cx="8331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-US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3000"/>
          </a:p>
          <a:p>
            <a:pPr indent="0" lvl="1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Above is a dynamic example since it will change at runtime.  In contrast, below is static: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trinity_home=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/usr/local/genome/trinityrnaseq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double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single quote behave the same in the above context, but that’s not always the case…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666876" y="3760787"/>
            <a:ext cx="8543925" cy="26400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double OR single quote behave the same in the above context, but that’s not always the case…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37" name="Google Shape;237;p21"/>
          <p:cNvCxnSpPr/>
          <p:nvPr/>
        </p:nvCxnSpPr>
        <p:spPr>
          <a:xfrm flipH="1">
            <a:off x="2809850" y="1384300"/>
            <a:ext cx="15900" cy="2475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647"/>
              </a:srgbClr>
            </a:outerShdw>
          </a:effectLst>
        </p:spPr>
      </p:cxnSp>
      <p:sp>
        <p:nvSpPr>
          <p:cNvPr id="238" name="Google Shape;238;p21"/>
          <p:cNvSpPr txBox="1"/>
          <p:nvPr/>
        </p:nvSpPr>
        <p:spPr>
          <a:xfrm>
            <a:off x="2500312" y="1347787"/>
            <a:ext cx="4667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500312" y="2401887"/>
            <a:ext cx="5561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46" name="Google Shape;246;p22"/>
          <p:cNvCxnSpPr/>
          <p:nvPr/>
        </p:nvCxnSpPr>
        <p:spPr>
          <a:xfrm flipH="1">
            <a:off x="2809876" y="1384301"/>
            <a:ext cx="15875" cy="30194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247" name="Google Shape;247;p22"/>
          <p:cNvSpPr txBox="1"/>
          <p:nvPr/>
        </p:nvSpPr>
        <p:spPr>
          <a:xfrm>
            <a:off x="2500313" y="1347788"/>
            <a:ext cx="480377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2500312" y="2401888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503487" y="3594101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printf 'The time is ${time}. Bye.\n'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22"/>
          <p:cNvCxnSpPr/>
          <p:nvPr/>
        </p:nvCxnSpPr>
        <p:spPr>
          <a:xfrm rot="10800000">
            <a:off x="3090862" y="4059238"/>
            <a:ext cx="792162" cy="68897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251" name="Google Shape;251;p22"/>
          <p:cNvSpPr txBox="1"/>
          <p:nvPr/>
        </p:nvSpPr>
        <p:spPr>
          <a:xfrm>
            <a:off x="3816351" y="4635500"/>
            <a:ext cx="5775325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add this 6</a:t>
            </a:r>
            <a:r>
              <a:rPr b="1"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to your script;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line is nearly the same 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</a:t>
            </a:r>
            <a:r>
              <a:rPr b="1"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 EXCEPT double quotes 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SINGLE QUOTE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script - time.sh</a:t>
            </a:r>
            <a:endParaRPr/>
          </a:p>
        </p:txBody>
      </p:sp>
      <p:cxnSp>
        <p:nvCxnSpPr>
          <p:cNvPr id="258" name="Google Shape;258;p23"/>
          <p:cNvCxnSpPr/>
          <p:nvPr/>
        </p:nvCxnSpPr>
        <p:spPr>
          <a:xfrm flipH="1">
            <a:off x="2809876" y="1384301"/>
            <a:ext cx="15875" cy="30194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  <a:effectLst>
            <a:outerShdw blurRad="63500" dir="5400000" dist="20000">
              <a:srgbClr val="808080">
                <a:alpha val="37254"/>
              </a:srgbClr>
            </a:outerShdw>
          </a:effectLst>
        </p:spPr>
      </p:cxnSp>
      <p:sp>
        <p:nvSpPr>
          <p:cNvPr id="259" name="Google Shape;259;p23"/>
          <p:cNvSpPr txBox="1"/>
          <p:nvPr/>
        </p:nvSpPr>
        <p:spPr>
          <a:xfrm>
            <a:off x="2500312" y="1347788"/>
            <a:ext cx="46672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AutoNum type="arabicPlain"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time=`date | awk '{print $4}'`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2500312" y="2401888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printf “The time is ${time}. Bye.\n”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2503487" y="3594101"/>
            <a:ext cx="54229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printf 'The time is ${time}. Bye.\n'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4230687" y="4718050"/>
            <a:ext cx="3911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script and execute with: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./script_name.sh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1898650" y="5791200"/>
            <a:ext cx="83867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the big difference between “ and ‘?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2503487" y="2917825"/>
            <a:ext cx="7388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# Is this the real life? Is this just fantasy?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# Caught in a landslide. No escape from reality.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70" name="Google Shape;270;p24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b="1" i="1" lang="en-US" sz="2800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$, `, \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787526" y="2803526"/>
            <a:ext cx="8231187" cy="3546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77" name="Google Shape;277;p25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b="1" i="1" lang="en-US" sz="2800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1787526" y="3644900"/>
            <a:ext cx="8231187" cy="2705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type="title"/>
          </p:nvPr>
        </p:nvSpPr>
        <p:spPr>
          <a:xfrm>
            <a:off x="1666876" y="274637"/>
            <a:ext cx="8842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Bracket, ticks and quote use in scripts</a:t>
            </a:r>
            <a:endParaRPr/>
          </a:p>
        </p:txBody>
      </p:sp>
      <p:sp>
        <p:nvSpPr>
          <p:cNvPr id="284" name="Google Shape;284;p26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“some text to screen”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</a:t>
            </a:r>
            <a:r>
              <a:rPr b="1" i="1" lang="en-US" sz="2800">
                <a:solidFill>
                  <a:schemeClr val="dk1"/>
                </a:solidFill>
              </a:rPr>
              <a:t>almost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EXCEPTIONS: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\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 ‘some text to screen’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Preserves the literal value of all characters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LITERALLY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add comments &amp; good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troubleshooting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1836737" y="908050"/>
            <a:ext cx="8247062" cy="58213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297" name="Google Shape;297;p28"/>
          <p:cNvSpPr txBox="1"/>
          <p:nvPr>
            <p:ph idx="1" type="body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add comments &amp; good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troubleshooting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1836737" y="2374900"/>
            <a:ext cx="8247062" cy="43545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1981200" y="9080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800"/>
              <a:t>pseudocode!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 comments/use good variable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Shorter rather than longer scripts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when troubleshooting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1836737" y="4568825"/>
            <a:ext cx="8247000" cy="216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1981200" y="-138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11" name="Google Shape;311;p30"/>
          <p:cNvSpPr txBox="1"/>
          <p:nvPr>
            <p:ph idx="1" type="body"/>
          </p:nvPr>
        </p:nvSpPr>
        <p:spPr>
          <a:xfrm>
            <a:off x="1981200" y="908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out your script before coding 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you are -&gt; where you want to go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800"/>
              <a:t>pseudocode!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 comments/use good variable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a “play-by-play” of what script is doing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comments like notebook/data management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</a:t>
            </a:r>
            <a:r>
              <a:rPr lang="en-US"/>
              <a:t> scripts are good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dissect, especially when troubleshooting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Modular; link together with another script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LEGOS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17" name="Google Shape;317;p31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is your friend….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scripts already out there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READ/UNDERSTAND HOW THEY WORK BEFORE EXECUTING THEM!!!!! (Why?)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biologist training when scripting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-&gt; test -&gt; modify -&gt; test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only a single variable at a time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1787526" y="4222750"/>
            <a:ext cx="8231187" cy="212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1981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Scripting good practices</a:t>
            </a:r>
            <a:endParaRPr/>
          </a:p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1981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is your friend….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scripts already out there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READ/UNDERSTAND HOW THEY WORK BEFORE EXECUTING THEM!!!!! (Why?)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your biologist training when scripting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-&gt; test -&gt; modify -&gt; test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only a single facet of a script at a time</a:t>
            </a:r>
            <a:endParaRPr/>
          </a:p>
          <a:p>
            <a:pPr indent="-76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3366f6546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Exercises!</a:t>
            </a:r>
            <a:endParaRPr/>
          </a:p>
        </p:txBody>
      </p:sp>
      <p:sp>
        <p:nvSpPr>
          <p:cNvPr id="331" name="Google Shape;331;g13366f65466_0_0"/>
          <p:cNvSpPr txBox="1"/>
          <p:nvPr>
            <p:ph idx="1" type="body"/>
          </p:nvPr>
        </p:nvSpPr>
        <p:spPr>
          <a:xfrm>
            <a:off x="838200" y="1438800"/>
            <a:ext cx="10515600" cy="719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Often it is necessary or helpful to have a sample table for NGS datasets, can be modified/parsed to aid downstream analysis.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	</a:t>
            </a:r>
            <a:r>
              <a:rPr lang="en-US" sz="2100"/>
              <a:t>-&gt; how long are your sequences, paired end (PE) or single end (SE)?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In the </a:t>
            </a:r>
            <a:r>
              <a:rPr lang="en-US" sz="2500">
                <a:solidFill>
                  <a:srgbClr val="1155CC"/>
                </a:solidFill>
              </a:rPr>
              <a:t>/seqdata/bootcamp/RNA-Seq-Male</a:t>
            </a:r>
            <a:r>
              <a:rPr lang="en-US" sz="2500"/>
              <a:t> directory we have a series of fastq files…use any tools that you have learned so far to create a .tsv with the following columns of data: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US" sz="2500"/>
              <a:t>Only rule is that you cannot use a text editor to do this, only commands you have learned, pipes etc.</a:t>
            </a:r>
            <a:endParaRPr b="1" i="1"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2" name="Google Shape;332;g13366f65466_0_0"/>
          <p:cNvGraphicFramePr/>
          <p:nvPr/>
        </p:nvGraphicFramePr>
        <p:xfrm>
          <a:off x="952475" y="400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{0FA2B658-85C6-4B38-A447-C05B49B52E79}</a:tableStyleId>
              </a:tblPr>
              <a:tblGrid>
                <a:gridCol w="1605300"/>
                <a:gridCol w="530200"/>
                <a:gridCol w="719475"/>
                <a:gridCol w="547125"/>
                <a:gridCol w="382850"/>
                <a:gridCol w="679275"/>
                <a:gridCol w="582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Sample Number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Sex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Strain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Diet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Week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File Name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Chow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M-B6-Chow-20wk-22-Pancreas_S21_L001_R1_001.fastq.gz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….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7038704b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Exercises!</a:t>
            </a:r>
            <a:endParaRPr/>
          </a:p>
        </p:txBody>
      </p:sp>
      <p:sp>
        <p:nvSpPr>
          <p:cNvPr id="339" name="Google Shape;339;g1337038704b_0_2"/>
          <p:cNvSpPr txBox="1"/>
          <p:nvPr>
            <p:ph idx="1" type="body"/>
          </p:nvPr>
        </p:nvSpPr>
        <p:spPr>
          <a:xfrm>
            <a:off x="838200" y="14633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Now that you have your handy tsv, try some data transformations: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-US"/>
              <a:t>convert to csv and save as a different file (same name, different file extension)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-US"/>
              <a:t>make it more human readable by changing some of the abbreviated contents to complete words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B6 -&gt; Black 6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HF -&gt; high fat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 -&gt; TALLYHO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 -&gt; male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-US"/>
              <a:t>use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r>
              <a:rPr lang="en-US"/>
              <a:t> to make these changes permanent (look at -i option)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337038704b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Exercises!</a:t>
            </a:r>
            <a:endParaRPr/>
          </a:p>
        </p:txBody>
      </p:sp>
      <p:sp>
        <p:nvSpPr>
          <p:cNvPr id="346" name="Google Shape;346;g1337038704b_0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Now we need you to write a script that </a:t>
            </a:r>
            <a:r>
              <a:rPr lang="en-US" u="sng"/>
              <a:t>calculates the number of reads</a:t>
            </a:r>
            <a:r>
              <a:rPr lang="en-US"/>
              <a:t> for each file in </a:t>
            </a:r>
            <a:r>
              <a:rPr lang="en-US">
                <a:solidFill>
                  <a:srgbClr val="1155CC"/>
                </a:solidFill>
              </a:rPr>
              <a:t>/seqdata/bootcamp/RNA-Seq-Male </a:t>
            </a:r>
            <a:r>
              <a:rPr lang="en-US"/>
              <a:t>and </a:t>
            </a:r>
            <a:r>
              <a:rPr lang="en-US" u="sng"/>
              <a:t>adds that column of data</a:t>
            </a:r>
            <a:r>
              <a:rPr lang="en-US"/>
              <a:t> to your tsv or csv file (your choice)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Again do this without using your text editor! Your script should work on any directory full of fastq.gz files…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2021-07-08T11:20:08Z</dcterms:created>
  <dc:creator>Nicole Garrison</dc:creator>
</cp:coreProperties>
</file>