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88">
          <p15:clr>
            <a:srgbClr val="A4A3A4"/>
          </p15:clr>
        </p15:guide>
      </p15:sldGuideLst>
    </p:ext>
    <p:ext uri="http://customooxmlschemas.google.com/">
      <go:slidesCustomData xmlns:go="http://customooxmlschemas.google.com/" r:id="rId25" roundtripDataSignature="AMtx7mgctxKVdGU+9c1y5GPc8lavZk+6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8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Thank you for coming, today I want to give you all some background information on the concept of next generation sequencing. Some things I want you to take away from this presentation include...</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 name="Google Shape;10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very briefly, Sanger sequencing uses a method called chain termination, where special fluorescently tagged nucleotides are incorporated into growing DNA strands, each time one of these dideoxy nucleotides is added extension of that strand stops. This method generated fragments of target dna of varying length with fluorescent labels attached to the last nuclotide. Capilary electrophoresis is used to separate the fragments by size and a laser is used to excite the fluorescent tag. If we order these fragements by size and look at the sequence of fluorescent signals we can reconstruct the sequence of our target DNA. This information is organized on a chromatogram, pictured here.</a:t>
            </a:r>
            <a:endParaRPr/>
          </a:p>
        </p:txBody>
      </p:sp>
      <p:sp>
        <p:nvSpPr>
          <p:cNvPr id="143" name="Google Shape;14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with this method of pyrosequencing, fragmented dna is isolated on beads and amplified on that bead using a special variation of PCR, single dna covered beads and all the ingredients needed for dna synthesis are then placed in wells, many wells in this plate, as nucleotides are washed across the wells they may become incorporated onto a dna strand...this releases pyrophosphate which sets on a chain reaction ultimately leading to the production of light by luciferase in this case firefly luciferase, so the same enzyme that is responsible for the glowing abdomen...each time you see fireflies I want you to think of pyrosequencing...</a:t>
            </a:r>
            <a:endParaRPr/>
          </a:p>
        </p:txBody>
      </p:sp>
      <p:sp>
        <p:nvSpPr>
          <p:cNvPr id="329" name="Google Shape;32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3" name="Google Shape;37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9" name="Google Shape;40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4" name="Google Shape;48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9" name="Google Shape;50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7" name="Google Shape;53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7" name="Google Shape;55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3" name="Google Shape;56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p:nvPr>
            <p:ph idx="2" type="pic"/>
          </p:nvPr>
        </p:nvSpPr>
        <p:spPr>
          <a:xfrm>
            <a:off x="5183188" y="987425"/>
            <a:ext cx="6172200" cy="4873625"/>
          </a:xfrm>
          <a:prstGeom prst="rect">
            <a:avLst/>
          </a:prstGeom>
          <a:noFill/>
          <a:ln>
            <a:noFill/>
          </a:ln>
        </p:spPr>
      </p:sp>
      <p:sp>
        <p:nvSpPr>
          <p:cNvPr id="68" name="Google Shape;68;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23F4F"/>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jpg"/><Relationship Id="rId4" Type="http://schemas.openxmlformats.org/officeDocument/2006/relationships/image" Target="../media/image12.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0.jpg"/><Relationship Id="rId4" Type="http://schemas.openxmlformats.org/officeDocument/2006/relationships/image" Target="../media/image15.jpg"/><Relationship Id="rId5"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25.jpg"/><Relationship Id="rId5" Type="http://schemas.openxmlformats.org/officeDocument/2006/relationships/image" Target="../media/image2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0" y="1563324"/>
            <a:ext cx="12192000" cy="102817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FFFDF2"/>
              </a:buClr>
              <a:buSzPts val="6600"/>
              <a:buFont typeface="Calibri"/>
              <a:buNone/>
            </a:pPr>
            <a:r>
              <a:rPr b="1" lang="en-US" sz="6600">
                <a:solidFill>
                  <a:srgbClr val="FFFDF2"/>
                </a:solidFill>
              </a:rPr>
              <a:t>The Sequencing Revolution</a:t>
            </a:r>
            <a:endParaRPr/>
          </a:p>
        </p:txBody>
      </p:sp>
      <p:sp>
        <p:nvSpPr>
          <p:cNvPr id="90" name="Google Shape;90;p1"/>
          <p:cNvSpPr txBox="1"/>
          <p:nvPr/>
        </p:nvSpPr>
        <p:spPr>
          <a:xfrm>
            <a:off x="4780993" y="5000626"/>
            <a:ext cx="263001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FFFDF2"/>
                </a:solidFill>
                <a:latin typeface="Calibri"/>
                <a:ea typeface="Calibri"/>
                <a:cs typeface="Calibri"/>
                <a:sym typeface="Calibri"/>
              </a:rPr>
              <a:t>Dr. Nicole Garrison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FFFDF2"/>
                </a:solidFill>
                <a:latin typeface="Calibri"/>
                <a:ea typeface="Calibri"/>
                <a:cs typeface="Calibri"/>
                <a:sym typeface="Calibri"/>
              </a:rPr>
              <a:t>Postdoctoral Fellow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FFFDF2"/>
                </a:solidFill>
                <a:latin typeface="Calibri"/>
                <a:ea typeface="Calibri"/>
                <a:cs typeface="Calibri"/>
                <a:sym typeface="Calibri"/>
              </a:rPr>
              <a:t>Auburn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nvSpPr>
        <p:spPr>
          <a:xfrm>
            <a:off x="849924" y="376849"/>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FFFDF2"/>
              </a:buClr>
              <a:buSzPts val="4400"/>
              <a:buFont typeface="Calibri"/>
              <a:buNone/>
            </a:pPr>
            <a:r>
              <a:rPr b="0" i="0" lang="en-US" sz="4400" u="none" cap="none" strike="noStrike">
                <a:solidFill>
                  <a:srgbClr val="FFFDF2"/>
                </a:solidFill>
                <a:latin typeface="Calibri"/>
                <a:ea typeface="Calibri"/>
                <a:cs typeface="Calibri"/>
                <a:sym typeface="Calibri"/>
              </a:rPr>
              <a:t>Next Generation Sequencing (NGS)</a:t>
            </a:r>
            <a:endParaRPr b="0" i="0" sz="4400" u="none" cap="none" strike="noStrike">
              <a:solidFill>
                <a:srgbClr val="FFFDF2"/>
              </a:solidFill>
              <a:latin typeface="Calibri"/>
              <a:ea typeface="Calibri"/>
              <a:cs typeface="Calibri"/>
              <a:sym typeface="Calibri"/>
            </a:endParaRPr>
          </a:p>
        </p:txBody>
      </p:sp>
      <p:sp>
        <p:nvSpPr>
          <p:cNvPr id="96" name="Google Shape;96;p2"/>
          <p:cNvSpPr txBox="1"/>
          <p:nvPr>
            <p:ph type="title"/>
          </p:nvPr>
        </p:nvSpPr>
        <p:spPr>
          <a:xfrm>
            <a:off x="854446" y="3723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DF2"/>
              </a:buClr>
              <a:buSzPts val="4400"/>
              <a:buFont typeface="Calibri"/>
              <a:buNone/>
            </a:pPr>
            <a:r>
              <a:rPr lang="en-US">
                <a:solidFill>
                  <a:srgbClr val="FFFDF2"/>
                </a:solidFill>
              </a:rPr>
              <a:t>Next Generation Sequencing (NGS)</a:t>
            </a:r>
            <a:endParaRPr/>
          </a:p>
        </p:txBody>
      </p:sp>
      <p:sp>
        <p:nvSpPr>
          <p:cNvPr id="97" name="Google Shape;9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DF2"/>
              </a:buClr>
              <a:buSzPts val="2800"/>
              <a:buChar char="•"/>
            </a:pPr>
            <a:r>
              <a:rPr lang="en-US">
                <a:solidFill>
                  <a:srgbClr val="FFFDF2"/>
                </a:solidFill>
              </a:rPr>
              <a:t>Second Generation</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Massively Parallel</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High Throughput</a:t>
            </a:r>
            <a:endParaRPr/>
          </a:p>
          <a:p>
            <a:pPr indent="0" lvl="0" marL="0" rtl="0" algn="l">
              <a:lnSpc>
                <a:spcPct val="90000"/>
              </a:lnSpc>
              <a:spcBef>
                <a:spcPts val="1000"/>
              </a:spcBef>
              <a:spcAft>
                <a:spcPts val="0"/>
              </a:spcAft>
              <a:buClr>
                <a:schemeClr val="dk1"/>
              </a:buClr>
              <a:buSzPts val="2800"/>
              <a:buNone/>
            </a:pPr>
            <a:r>
              <a:t/>
            </a:r>
            <a:endParaRPr>
              <a:solidFill>
                <a:srgbClr val="FFFDF2"/>
              </a:solidFill>
            </a:endParaRPr>
          </a:p>
        </p:txBody>
      </p:sp>
      <p:pic>
        <p:nvPicPr>
          <p:cNvPr descr="A screenshot of a social media post&#10;&#10;Description automatically generated" id="98" name="Google Shape;98;p2"/>
          <p:cNvPicPr preferRelativeResize="0"/>
          <p:nvPr/>
        </p:nvPicPr>
        <p:blipFill rotWithShape="1">
          <a:blip r:embed="rId3">
            <a:alphaModFix/>
          </a:blip>
          <a:srcRect b="10386" l="13750" r="2253" t="18092"/>
          <a:stretch/>
        </p:blipFill>
        <p:spPr>
          <a:xfrm>
            <a:off x="-5956" y="3649606"/>
            <a:ext cx="12198254" cy="3231839"/>
          </a:xfrm>
          <a:prstGeom prst="rect">
            <a:avLst/>
          </a:prstGeom>
          <a:noFill/>
          <a:ln>
            <a:noFill/>
          </a:ln>
        </p:spPr>
      </p:pic>
      <p:sp>
        <p:nvSpPr>
          <p:cNvPr id="99" name="Google Shape;99;p2"/>
          <p:cNvSpPr/>
          <p:nvPr/>
        </p:nvSpPr>
        <p:spPr>
          <a:xfrm>
            <a:off x="1405486" y="4922725"/>
            <a:ext cx="1227909" cy="888098"/>
          </a:xfrm>
          <a:prstGeom prst="wedgeRoundRectCallout">
            <a:avLst>
              <a:gd fmla="val -19769" name="adj1"/>
              <a:gd fmla="val 87505" name="adj2"/>
              <a:gd fmla="val 16667" name="adj3"/>
            </a:avLst>
          </a:prstGeom>
          <a:solidFill>
            <a:srgbClr val="FFFDF2">
              <a:alpha val="64313"/>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323F4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August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2005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0" name="Google Shape;100;p2"/>
          <p:cNvSpPr/>
          <p:nvPr/>
        </p:nvSpPr>
        <p:spPr>
          <a:xfrm>
            <a:off x="5520145" y="3624498"/>
            <a:ext cx="1227909" cy="888098"/>
          </a:xfrm>
          <a:prstGeom prst="wedgeRoundRectCallout">
            <a:avLst>
              <a:gd fmla="val 75976" name="adj1"/>
              <a:gd fmla="val 3665" name="adj2"/>
              <a:gd fmla="val 16667" name="adj3"/>
            </a:avLst>
          </a:prstGeom>
          <a:solidFill>
            <a:srgbClr val="FFFDF2">
              <a:alpha val="64313"/>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May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2011</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500"/>
                                        <p:tgtEl>
                                          <p:spTgt spid="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500"/>
                                        <p:tgtEl>
                                          <p:spTgt spid="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500"/>
                                        <p:tgtEl>
                                          <p:spTgt spid="1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DF2"/>
              </a:buClr>
              <a:buSzPts val="2800"/>
              <a:buChar char="•"/>
            </a:pPr>
            <a:r>
              <a:rPr lang="en-US">
                <a:solidFill>
                  <a:srgbClr val="FFFDF2"/>
                </a:solidFill>
              </a:rPr>
              <a:t>Second Generation</a:t>
            </a:r>
            <a:r>
              <a:rPr lang="en-US" sz="2000">
                <a:solidFill>
                  <a:srgbClr val="FFFDF2"/>
                </a:solidFill>
              </a:rPr>
              <a:t> </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Massively Parallel</a:t>
            </a:r>
            <a:endParaRPr sz="2000">
              <a:solidFill>
                <a:srgbClr val="FFFDF2"/>
              </a:solidFill>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High Throughput</a:t>
            </a:r>
            <a:endParaRPr/>
          </a:p>
        </p:txBody>
      </p:sp>
      <p:pic>
        <p:nvPicPr>
          <p:cNvPr id="106" name="Google Shape;106;p3"/>
          <p:cNvPicPr preferRelativeResize="0"/>
          <p:nvPr/>
        </p:nvPicPr>
        <p:blipFill rotWithShape="1">
          <a:blip r:embed="rId3">
            <a:alphaModFix/>
          </a:blip>
          <a:srcRect b="10386" l="13750" r="2253" t="18092"/>
          <a:stretch/>
        </p:blipFill>
        <p:spPr>
          <a:xfrm>
            <a:off x="-5956" y="3649606"/>
            <a:ext cx="12198254" cy="3231839"/>
          </a:xfrm>
          <a:prstGeom prst="rect">
            <a:avLst/>
          </a:prstGeom>
          <a:noFill/>
          <a:ln>
            <a:noFill/>
          </a:ln>
        </p:spPr>
      </p:pic>
      <p:sp>
        <p:nvSpPr>
          <p:cNvPr id="107" name="Google Shape;107;p3"/>
          <p:cNvSpPr txBox="1"/>
          <p:nvPr>
            <p:ph type="title"/>
          </p:nvPr>
        </p:nvSpPr>
        <p:spPr>
          <a:xfrm>
            <a:off x="854446" y="3723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DF2"/>
              </a:buClr>
              <a:buSzPts val="4400"/>
              <a:buFont typeface="Calibri"/>
              <a:buNone/>
            </a:pPr>
            <a:r>
              <a:rPr lang="en-US">
                <a:solidFill>
                  <a:srgbClr val="FFFDF2"/>
                </a:solidFill>
              </a:rPr>
              <a:t>Next Generation Sequencing (NGS)</a:t>
            </a:r>
            <a:endParaRPr/>
          </a:p>
        </p:txBody>
      </p:sp>
      <p:sp>
        <p:nvSpPr>
          <p:cNvPr id="108" name="Google Shape;108;p3"/>
          <p:cNvSpPr/>
          <p:nvPr/>
        </p:nvSpPr>
        <p:spPr>
          <a:xfrm>
            <a:off x="1405486" y="4922725"/>
            <a:ext cx="1227909" cy="888098"/>
          </a:xfrm>
          <a:prstGeom prst="wedgeRoundRectCallout">
            <a:avLst>
              <a:gd fmla="val -19769" name="adj1"/>
              <a:gd fmla="val 87505" name="adj2"/>
              <a:gd fmla="val 16667" name="adj3"/>
            </a:avLst>
          </a:prstGeom>
          <a:solidFill>
            <a:srgbClr val="FFFDF2">
              <a:alpha val="64313"/>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323F4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August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2005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 name="Google Shape;109;p3"/>
          <p:cNvSpPr/>
          <p:nvPr/>
        </p:nvSpPr>
        <p:spPr>
          <a:xfrm>
            <a:off x="5520145" y="3624498"/>
            <a:ext cx="1227909" cy="888098"/>
          </a:xfrm>
          <a:prstGeom prst="wedgeRoundRectCallout">
            <a:avLst>
              <a:gd fmla="val 75976" name="adj1"/>
              <a:gd fmla="val 3665" name="adj2"/>
              <a:gd fmla="val 16667" name="adj3"/>
            </a:avLst>
          </a:prstGeom>
          <a:solidFill>
            <a:srgbClr val="FFFDF2">
              <a:alpha val="64313"/>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May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2011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DF2"/>
              </a:buClr>
              <a:buSzPts val="2800"/>
              <a:buChar char="•"/>
            </a:pPr>
            <a:r>
              <a:rPr lang="en-US">
                <a:solidFill>
                  <a:srgbClr val="FFFDF2"/>
                </a:solidFill>
              </a:rPr>
              <a:t>Second Generation</a:t>
            </a:r>
            <a:r>
              <a:rPr lang="en-US" sz="2000">
                <a:solidFill>
                  <a:srgbClr val="FFFDF2"/>
                </a:solidFill>
              </a:rPr>
              <a:t> </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Massively Parallel</a:t>
            </a:r>
            <a:endParaRPr sz="2000">
              <a:solidFill>
                <a:srgbClr val="FFFDF2"/>
              </a:solidFill>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High Throughput</a:t>
            </a:r>
            <a:endParaRPr/>
          </a:p>
        </p:txBody>
      </p:sp>
      <p:pic>
        <p:nvPicPr>
          <p:cNvPr id="115" name="Google Shape;115;p4"/>
          <p:cNvPicPr preferRelativeResize="0"/>
          <p:nvPr/>
        </p:nvPicPr>
        <p:blipFill rotWithShape="1">
          <a:blip r:embed="rId3">
            <a:alphaModFix/>
          </a:blip>
          <a:srcRect b="10386" l="13750" r="2253" t="18092"/>
          <a:stretch/>
        </p:blipFill>
        <p:spPr>
          <a:xfrm>
            <a:off x="-5956" y="3649606"/>
            <a:ext cx="12198254" cy="3231839"/>
          </a:xfrm>
          <a:prstGeom prst="rect">
            <a:avLst/>
          </a:prstGeom>
          <a:noFill/>
          <a:ln>
            <a:noFill/>
          </a:ln>
        </p:spPr>
      </p:pic>
      <p:sp>
        <p:nvSpPr>
          <p:cNvPr id="116" name="Google Shape;116;p4"/>
          <p:cNvSpPr txBox="1"/>
          <p:nvPr>
            <p:ph type="title"/>
          </p:nvPr>
        </p:nvSpPr>
        <p:spPr>
          <a:xfrm>
            <a:off x="854446" y="3723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DF2"/>
              </a:buClr>
              <a:buSzPts val="4400"/>
              <a:buFont typeface="Calibri"/>
              <a:buNone/>
            </a:pPr>
            <a:r>
              <a:rPr lang="en-US">
                <a:solidFill>
                  <a:srgbClr val="FFFDF2"/>
                </a:solidFill>
              </a:rPr>
              <a:t>Next Generation Sequencing (NGS)</a:t>
            </a:r>
            <a:endParaRPr/>
          </a:p>
        </p:txBody>
      </p:sp>
      <p:sp>
        <p:nvSpPr>
          <p:cNvPr id="117" name="Google Shape;117;p4"/>
          <p:cNvSpPr/>
          <p:nvPr/>
        </p:nvSpPr>
        <p:spPr>
          <a:xfrm>
            <a:off x="1405486" y="4922725"/>
            <a:ext cx="1227909" cy="888098"/>
          </a:xfrm>
          <a:prstGeom prst="wedgeRoundRectCallout">
            <a:avLst>
              <a:gd fmla="val -19769" name="adj1"/>
              <a:gd fmla="val 87505" name="adj2"/>
              <a:gd fmla="val 16667" name="adj3"/>
            </a:avLst>
          </a:prstGeom>
          <a:solidFill>
            <a:srgbClr val="FFFDF2">
              <a:alpha val="64313"/>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323F4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August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2005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 name="Google Shape;118;p4"/>
          <p:cNvSpPr/>
          <p:nvPr/>
        </p:nvSpPr>
        <p:spPr>
          <a:xfrm>
            <a:off x="5520145" y="3624498"/>
            <a:ext cx="1227909" cy="888098"/>
          </a:xfrm>
          <a:prstGeom prst="wedgeRoundRectCallout">
            <a:avLst>
              <a:gd fmla="val 75976" name="adj1"/>
              <a:gd fmla="val 3665" name="adj2"/>
              <a:gd fmla="val 16667" name="adj3"/>
            </a:avLst>
          </a:prstGeom>
          <a:solidFill>
            <a:srgbClr val="FFFDF2">
              <a:alpha val="64313"/>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May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2011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DF2"/>
              </a:buClr>
              <a:buSzPts val="2800"/>
              <a:buChar char="•"/>
            </a:pPr>
            <a:r>
              <a:rPr lang="en-US">
                <a:solidFill>
                  <a:srgbClr val="FFFDF2"/>
                </a:solidFill>
              </a:rPr>
              <a:t>Second Generation</a:t>
            </a:r>
            <a:r>
              <a:rPr lang="en-US" sz="2000">
                <a:solidFill>
                  <a:srgbClr val="FFFDF2"/>
                </a:solidFill>
              </a:rPr>
              <a:t> </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Massively Parallel</a:t>
            </a:r>
            <a:endParaRPr sz="2000">
              <a:solidFill>
                <a:srgbClr val="FFFDF2"/>
              </a:solidFill>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High Throughput</a:t>
            </a:r>
            <a:endParaRPr>
              <a:solidFill>
                <a:srgbClr val="FFFDF2"/>
              </a:solidFill>
            </a:endParaRPr>
          </a:p>
        </p:txBody>
      </p:sp>
      <p:pic>
        <p:nvPicPr>
          <p:cNvPr id="124" name="Google Shape;124;p5"/>
          <p:cNvPicPr preferRelativeResize="0"/>
          <p:nvPr/>
        </p:nvPicPr>
        <p:blipFill rotWithShape="1">
          <a:blip r:embed="rId3">
            <a:alphaModFix/>
          </a:blip>
          <a:srcRect b="10386" l="13750" r="2253" t="18092"/>
          <a:stretch/>
        </p:blipFill>
        <p:spPr>
          <a:xfrm>
            <a:off x="-5956" y="3649606"/>
            <a:ext cx="12198254" cy="3231839"/>
          </a:xfrm>
          <a:prstGeom prst="rect">
            <a:avLst/>
          </a:prstGeom>
          <a:noFill/>
          <a:ln>
            <a:noFill/>
          </a:ln>
        </p:spPr>
      </p:pic>
      <p:sp>
        <p:nvSpPr>
          <p:cNvPr id="125" name="Google Shape;125;p5"/>
          <p:cNvSpPr/>
          <p:nvPr/>
        </p:nvSpPr>
        <p:spPr>
          <a:xfrm>
            <a:off x="1405486" y="4922725"/>
            <a:ext cx="1227909" cy="888098"/>
          </a:xfrm>
          <a:prstGeom prst="wedgeRoundRectCallout">
            <a:avLst>
              <a:gd fmla="val -19769" name="adj1"/>
              <a:gd fmla="val 87505" name="adj2"/>
              <a:gd fmla="val 16667" name="adj3"/>
            </a:avLst>
          </a:prstGeom>
          <a:solidFill>
            <a:srgbClr val="FFFDF2">
              <a:alpha val="64313"/>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323F4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August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2005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 name="Google Shape;126;p5"/>
          <p:cNvSpPr txBox="1"/>
          <p:nvPr>
            <p:ph type="title"/>
          </p:nvPr>
        </p:nvSpPr>
        <p:spPr>
          <a:xfrm>
            <a:off x="854446" y="3723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DF2"/>
              </a:buClr>
              <a:buSzPts val="4400"/>
              <a:buFont typeface="Calibri"/>
              <a:buNone/>
            </a:pPr>
            <a:r>
              <a:rPr lang="en-US">
                <a:solidFill>
                  <a:srgbClr val="FFFDF2"/>
                </a:solidFill>
              </a:rPr>
              <a:t>Next Generation Sequencing (NGS)</a:t>
            </a:r>
            <a:endParaRPr/>
          </a:p>
        </p:txBody>
      </p:sp>
      <p:sp>
        <p:nvSpPr>
          <p:cNvPr id="127" name="Google Shape;127;p5"/>
          <p:cNvSpPr/>
          <p:nvPr/>
        </p:nvSpPr>
        <p:spPr>
          <a:xfrm>
            <a:off x="5520145" y="3624498"/>
            <a:ext cx="1227909" cy="888098"/>
          </a:xfrm>
          <a:prstGeom prst="wedgeRoundRectCallout">
            <a:avLst>
              <a:gd fmla="val 75976" name="adj1"/>
              <a:gd fmla="val 3665" name="adj2"/>
              <a:gd fmla="val 16667" name="adj3"/>
            </a:avLst>
          </a:prstGeom>
          <a:solidFill>
            <a:srgbClr val="FFFDF2">
              <a:alpha val="64313"/>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May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2011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txBox="1"/>
          <p:nvPr>
            <p:ph idx="1" type="body"/>
          </p:nvPr>
        </p:nvSpPr>
        <p:spPr>
          <a:xfrm>
            <a:off x="838200" y="1825625"/>
            <a:ext cx="3292929"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DF2"/>
              </a:buClr>
              <a:buSzPts val="2800"/>
              <a:buChar char="•"/>
            </a:pPr>
            <a:r>
              <a:rPr lang="en-US">
                <a:solidFill>
                  <a:srgbClr val="FFFDF2"/>
                </a:solidFill>
              </a:rPr>
              <a:t>Second Generation</a:t>
            </a:r>
            <a:endParaRPr sz="2000">
              <a:solidFill>
                <a:srgbClr val="FFFDF2"/>
              </a:solidFill>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Massively Parallel</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High Throughput</a:t>
            </a:r>
            <a:endParaRPr/>
          </a:p>
        </p:txBody>
      </p:sp>
      <p:pic>
        <p:nvPicPr>
          <p:cNvPr id="133" name="Google Shape;133;p6"/>
          <p:cNvPicPr preferRelativeResize="0"/>
          <p:nvPr/>
        </p:nvPicPr>
        <p:blipFill rotWithShape="1">
          <a:blip r:embed="rId3">
            <a:alphaModFix/>
          </a:blip>
          <a:srcRect b="10386" l="13750" r="2253" t="18092"/>
          <a:stretch/>
        </p:blipFill>
        <p:spPr>
          <a:xfrm>
            <a:off x="-5956" y="3649606"/>
            <a:ext cx="12198254" cy="3231839"/>
          </a:xfrm>
          <a:prstGeom prst="rect">
            <a:avLst/>
          </a:prstGeom>
          <a:noFill/>
          <a:ln>
            <a:noFill/>
          </a:ln>
        </p:spPr>
      </p:pic>
      <p:sp>
        <p:nvSpPr>
          <p:cNvPr id="134" name="Google Shape;134;p6"/>
          <p:cNvSpPr/>
          <p:nvPr/>
        </p:nvSpPr>
        <p:spPr>
          <a:xfrm>
            <a:off x="5520145" y="3624498"/>
            <a:ext cx="1227909" cy="888098"/>
          </a:xfrm>
          <a:prstGeom prst="wedgeRoundRectCallout">
            <a:avLst>
              <a:gd fmla="val 75976" name="adj1"/>
              <a:gd fmla="val 3665" name="adj2"/>
              <a:gd fmla="val 16667" name="adj3"/>
            </a:avLst>
          </a:prstGeom>
          <a:solidFill>
            <a:srgbClr val="FFFDF2">
              <a:alpha val="64313"/>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May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2011</a:t>
            </a:r>
            <a:endParaRPr b="0" i="0" sz="1400" u="none" cap="none" strike="noStrike">
              <a:solidFill>
                <a:srgbClr val="000000"/>
              </a:solidFill>
              <a:latin typeface="Arial"/>
              <a:ea typeface="Arial"/>
              <a:cs typeface="Arial"/>
              <a:sym typeface="Arial"/>
            </a:endParaRPr>
          </a:p>
        </p:txBody>
      </p:sp>
      <p:sp>
        <p:nvSpPr>
          <p:cNvPr id="135" name="Google Shape;135;p6"/>
          <p:cNvSpPr txBox="1"/>
          <p:nvPr>
            <p:ph type="title"/>
          </p:nvPr>
        </p:nvSpPr>
        <p:spPr>
          <a:xfrm>
            <a:off x="854446" y="3723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DF2"/>
              </a:buClr>
              <a:buSzPts val="4400"/>
              <a:buFont typeface="Calibri"/>
              <a:buNone/>
            </a:pPr>
            <a:r>
              <a:rPr lang="en-US">
                <a:solidFill>
                  <a:srgbClr val="FFFDF2"/>
                </a:solidFill>
              </a:rPr>
              <a:t>Next Generation Sequencing (NGS)</a:t>
            </a:r>
            <a:endParaRPr/>
          </a:p>
        </p:txBody>
      </p:sp>
      <p:sp>
        <p:nvSpPr>
          <p:cNvPr id="136" name="Google Shape;136;p6"/>
          <p:cNvSpPr txBox="1"/>
          <p:nvPr/>
        </p:nvSpPr>
        <p:spPr>
          <a:xfrm>
            <a:off x="3929065" y="1880831"/>
            <a:ext cx="5703293"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DF2"/>
                </a:solidFill>
                <a:latin typeface="Calibri"/>
                <a:ea typeface="Calibri"/>
                <a:cs typeface="Calibri"/>
                <a:sym typeface="Calibri"/>
              </a:rPr>
              <a:t>– technological advancement and biological breakthroughs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DF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DF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DF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 name="Google Shape;137;p6"/>
          <p:cNvSpPr txBox="1"/>
          <p:nvPr/>
        </p:nvSpPr>
        <p:spPr>
          <a:xfrm>
            <a:off x="3725996" y="2374749"/>
            <a:ext cx="4571060"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DF2"/>
                </a:solidFill>
                <a:latin typeface="Calibri"/>
                <a:ea typeface="Calibri"/>
                <a:cs typeface="Calibri"/>
                <a:sym typeface="Calibri"/>
              </a:rPr>
              <a:t>– sequencing reactions happen simultaneously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FFFDF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6"/>
          <p:cNvSpPr/>
          <p:nvPr/>
        </p:nvSpPr>
        <p:spPr>
          <a:xfrm>
            <a:off x="3607038" y="2904455"/>
            <a:ext cx="401218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DF2"/>
                </a:solidFill>
                <a:latin typeface="Calibri"/>
                <a:ea typeface="Calibri"/>
                <a:cs typeface="Calibri"/>
                <a:sym typeface="Calibri"/>
              </a:rPr>
              <a:t>– millions of sequences, rapid processing</a:t>
            </a:r>
            <a:endParaRPr b="0" i="0" sz="1400" u="none" cap="none" strike="noStrike">
              <a:solidFill>
                <a:srgbClr val="000000"/>
              </a:solidFill>
              <a:latin typeface="Arial"/>
              <a:ea typeface="Arial"/>
              <a:cs typeface="Arial"/>
              <a:sym typeface="Arial"/>
            </a:endParaRPr>
          </a:p>
        </p:txBody>
      </p:sp>
      <p:sp>
        <p:nvSpPr>
          <p:cNvPr id="139" name="Google Shape;139;p6"/>
          <p:cNvSpPr/>
          <p:nvPr/>
        </p:nvSpPr>
        <p:spPr>
          <a:xfrm>
            <a:off x="1405486" y="4922725"/>
            <a:ext cx="1227909" cy="888098"/>
          </a:xfrm>
          <a:prstGeom prst="wedgeRoundRectCallout">
            <a:avLst>
              <a:gd fmla="val -19769" name="adj1"/>
              <a:gd fmla="val 87505" name="adj2"/>
              <a:gd fmla="val 16667" name="adj3"/>
            </a:avLst>
          </a:prstGeom>
          <a:solidFill>
            <a:srgbClr val="FFFDF2">
              <a:alpha val="64313"/>
            </a:srgbClr>
          </a:solidFill>
          <a:ln cap="flat" cmpd="sng" w="127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323F4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August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2005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5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xEl>
                                              <p:pRg end="0" st="0"/>
                                            </p:txEl>
                                          </p:spTgt>
                                        </p:tgtEl>
                                        <p:attrNameLst>
                                          <p:attrName>style.visibility</p:attrName>
                                        </p:attrNameLst>
                                      </p:cBhvr>
                                      <p:to>
                                        <p:strVal val="visible"/>
                                      </p:to>
                                    </p:set>
                                    <p:animEffect filter="fade" transition="in">
                                      <p:cBhvr>
                                        <p:cTn dur="500"/>
                                        <p:tgtEl>
                                          <p:spTgt spid="1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xEl>
                                              <p:pRg end="1" st="1"/>
                                            </p:txEl>
                                          </p:spTgt>
                                        </p:tgtEl>
                                        <p:attrNameLst>
                                          <p:attrName>style.visibility</p:attrName>
                                        </p:attrNameLst>
                                      </p:cBhvr>
                                      <p:to>
                                        <p:strVal val="visible"/>
                                      </p:to>
                                    </p:set>
                                    <p:animEffect filter="fade" transition="in">
                                      <p:cBhvr>
                                        <p:cTn dur="500"/>
                                        <p:tgtEl>
                                          <p:spTgt spid="1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xEl>
                                              <p:pRg end="2" st="2"/>
                                            </p:txEl>
                                          </p:spTgt>
                                        </p:tgtEl>
                                        <p:attrNameLst>
                                          <p:attrName>style.visibility</p:attrName>
                                        </p:attrNameLst>
                                      </p:cBhvr>
                                      <p:to>
                                        <p:strVal val="visible"/>
                                      </p:to>
                                    </p:set>
                                    <p:animEffect filter="fade" transition="in">
                                      <p:cBhvr>
                                        <p:cTn dur="500"/>
                                        <p:tgtEl>
                                          <p:spTgt spid="1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cxnSp>
        <p:nvCxnSpPr>
          <p:cNvPr id="145" name="Google Shape;145;p7"/>
          <p:cNvCxnSpPr/>
          <p:nvPr/>
        </p:nvCxnSpPr>
        <p:spPr>
          <a:xfrm>
            <a:off x="0" y="2870096"/>
            <a:ext cx="12192000" cy="0"/>
          </a:xfrm>
          <a:prstGeom prst="straightConnector1">
            <a:avLst/>
          </a:prstGeom>
          <a:noFill/>
          <a:ln cap="flat" cmpd="sng" w="38100">
            <a:solidFill>
              <a:srgbClr val="D8D8D8"/>
            </a:solidFill>
            <a:prstDash val="solid"/>
            <a:miter lim="800000"/>
            <a:headEnd len="sm" w="sm" type="none"/>
            <a:tailEnd len="sm" w="sm" type="none"/>
          </a:ln>
        </p:spPr>
      </p:cxnSp>
      <p:grpSp>
        <p:nvGrpSpPr>
          <p:cNvPr id="146" name="Google Shape;146;p7"/>
          <p:cNvGrpSpPr/>
          <p:nvPr/>
        </p:nvGrpSpPr>
        <p:grpSpPr>
          <a:xfrm>
            <a:off x="103200" y="2181601"/>
            <a:ext cx="1371600" cy="1371600"/>
            <a:chOff x="0" y="1233488"/>
            <a:chExt cx="914400" cy="914400"/>
          </a:xfrm>
        </p:grpSpPr>
        <p:sp>
          <p:nvSpPr>
            <p:cNvPr id="147" name="Google Shape;147;p7"/>
            <p:cNvSpPr/>
            <p:nvPr/>
          </p:nvSpPr>
          <p:spPr>
            <a:xfrm>
              <a:off x="0" y="1233488"/>
              <a:ext cx="914400" cy="914400"/>
            </a:xfrm>
            <a:prstGeom prst="ellipse">
              <a:avLst/>
            </a:prstGeom>
            <a:solidFill>
              <a:srgbClr val="2E75B5"/>
            </a:solidFill>
            <a:ln cap="flat" cmpd="sng" w="9525">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48" name="Google Shape;148;p7"/>
            <p:cNvPicPr preferRelativeResize="0"/>
            <p:nvPr/>
          </p:nvPicPr>
          <p:blipFill rotWithShape="1">
            <a:blip r:embed="rId3">
              <a:alphaModFix/>
            </a:blip>
            <a:srcRect b="0" l="0" r="0" t="0"/>
            <a:stretch/>
          </p:blipFill>
          <p:spPr>
            <a:xfrm flipH="1" rot="1776582">
              <a:off x="331704" y="1272501"/>
              <a:ext cx="250992" cy="827721"/>
            </a:xfrm>
            <a:prstGeom prst="rect">
              <a:avLst/>
            </a:prstGeom>
            <a:noFill/>
            <a:ln>
              <a:noFill/>
            </a:ln>
          </p:spPr>
        </p:pic>
      </p:grpSp>
      <p:sp>
        <p:nvSpPr>
          <p:cNvPr id="149" name="Google Shape;149;p7"/>
          <p:cNvSpPr/>
          <p:nvPr/>
        </p:nvSpPr>
        <p:spPr>
          <a:xfrm>
            <a:off x="3806326" y="1190826"/>
            <a:ext cx="1371600" cy="1371600"/>
          </a:xfrm>
          <a:prstGeom prst="ellipse">
            <a:avLst/>
          </a:prstGeom>
          <a:solidFill>
            <a:srgbClr val="00B0F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323F4F"/>
                </a:solidFill>
                <a:latin typeface="Calibri"/>
                <a:ea typeface="Calibri"/>
                <a:cs typeface="Calibri"/>
                <a:sym typeface="Calibri"/>
              </a:rPr>
              <a:t>Sanger</a:t>
            </a:r>
            <a:endParaRPr b="0" i="0" sz="1400" u="none" cap="none" strike="noStrike">
              <a:solidFill>
                <a:srgbClr val="000000"/>
              </a:solidFill>
              <a:latin typeface="Arial"/>
              <a:ea typeface="Arial"/>
              <a:cs typeface="Arial"/>
              <a:sym typeface="Arial"/>
            </a:endParaRPr>
          </a:p>
        </p:txBody>
      </p:sp>
      <p:sp>
        <p:nvSpPr>
          <p:cNvPr id="150" name="Google Shape;150;p7"/>
          <p:cNvSpPr/>
          <p:nvPr/>
        </p:nvSpPr>
        <p:spPr>
          <a:xfrm>
            <a:off x="5804932" y="3056943"/>
            <a:ext cx="274320" cy="274320"/>
          </a:xfrm>
          <a:prstGeom prst="ellipse">
            <a:avLst/>
          </a:prstGeom>
          <a:solidFill>
            <a:srgbClr val="00B0F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cxnSp>
        <p:nvCxnSpPr>
          <p:cNvPr id="151" name="Google Shape;151;p7"/>
          <p:cNvCxnSpPr>
            <a:endCxn id="149" idx="4"/>
          </p:cNvCxnSpPr>
          <p:nvPr/>
        </p:nvCxnSpPr>
        <p:spPr>
          <a:xfrm rot="10800000">
            <a:off x="4492126" y="2562426"/>
            <a:ext cx="0" cy="318600"/>
          </a:xfrm>
          <a:prstGeom prst="straightConnector1">
            <a:avLst/>
          </a:prstGeom>
          <a:noFill/>
          <a:ln cap="flat" cmpd="sng" w="19050">
            <a:solidFill>
              <a:srgbClr val="D8D8D8"/>
            </a:solidFill>
            <a:prstDash val="solid"/>
            <a:miter lim="800000"/>
            <a:headEnd len="sm" w="sm" type="none"/>
            <a:tailEnd len="sm" w="sm" type="none"/>
          </a:ln>
        </p:spPr>
      </p:cxnSp>
      <p:sp>
        <p:nvSpPr>
          <p:cNvPr id="152" name="Google Shape;152;p7"/>
          <p:cNvSpPr txBox="1"/>
          <p:nvPr/>
        </p:nvSpPr>
        <p:spPr>
          <a:xfrm>
            <a:off x="331182" y="3533124"/>
            <a:ext cx="91563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1953</a:t>
            </a:r>
            <a:endParaRPr b="0" i="0" sz="1400" u="none" cap="none" strike="noStrike">
              <a:solidFill>
                <a:srgbClr val="000000"/>
              </a:solidFill>
              <a:latin typeface="Arial"/>
              <a:ea typeface="Arial"/>
              <a:cs typeface="Arial"/>
              <a:sym typeface="Arial"/>
            </a:endParaRPr>
          </a:p>
        </p:txBody>
      </p:sp>
      <p:sp>
        <p:nvSpPr>
          <p:cNvPr id="153" name="Google Shape;153;p7"/>
          <p:cNvSpPr/>
          <p:nvPr/>
        </p:nvSpPr>
        <p:spPr>
          <a:xfrm>
            <a:off x="4034308" y="714079"/>
            <a:ext cx="91563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1977</a:t>
            </a:r>
            <a:endParaRPr b="0" i="0" sz="1400" u="none" cap="none" strike="noStrike">
              <a:solidFill>
                <a:srgbClr val="000000"/>
              </a:solidFill>
              <a:latin typeface="Arial"/>
              <a:ea typeface="Arial"/>
              <a:cs typeface="Arial"/>
              <a:sym typeface="Arial"/>
            </a:endParaRPr>
          </a:p>
        </p:txBody>
      </p:sp>
      <p:cxnSp>
        <p:nvCxnSpPr>
          <p:cNvPr id="154" name="Google Shape;154;p7"/>
          <p:cNvCxnSpPr/>
          <p:nvPr/>
        </p:nvCxnSpPr>
        <p:spPr>
          <a:xfrm flipH="1" rot="10800000">
            <a:off x="5942092" y="2888826"/>
            <a:ext cx="2250" cy="168892"/>
          </a:xfrm>
          <a:prstGeom prst="straightConnector1">
            <a:avLst/>
          </a:prstGeom>
          <a:noFill/>
          <a:ln cap="flat" cmpd="sng" w="19050">
            <a:solidFill>
              <a:srgbClr val="D8D8D8"/>
            </a:solidFill>
            <a:prstDash val="solid"/>
            <a:miter lim="800000"/>
            <a:headEnd len="sm" w="sm" type="none"/>
            <a:tailEnd len="sm" w="sm" type="none"/>
          </a:ln>
        </p:spPr>
      </p:cxnSp>
      <p:sp>
        <p:nvSpPr>
          <p:cNvPr id="155" name="Google Shape;155;p7"/>
          <p:cNvSpPr/>
          <p:nvPr/>
        </p:nvSpPr>
        <p:spPr>
          <a:xfrm>
            <a:off x="5484274" y="3309207"/>
            <a:ext cx="915636"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1986</a:t>
            </a:r>
            <a:endParaRPr b="0" i="0" sz="1400" u="none" cap="none" strike="noStrike">
              <a:solidFill>
                <a:srgbClr val="000000"/>
              </a:solidFill>
              <a:latin typeface="Arial"/>
              <a:ea typeface="Arial"/>
              <a:cs typeface="Arial"/>
              <a:sym typeface="Arial"/>
            </a:endParaRPr>
          </a:p>
        </p:txBody>
      </p:sp>
      <p:pic>
        <p:nvPicPr>
          <p:cNvPr id="156" name="Google Shape;156;p7"/>
          <p:cNvPicPr preferRelativeResize="0"/>
          <p:nvPr/>
        </p:nvPicPr>
        <p:blipFill rotWithShape="1">
          <a:blip r:embed="rId4">
            <a:alphaModFix/>
          </a:blip>
          <a:srcRect b="5908" l="0" r="0" t="9107"/>
          <a:stretch/>
        </p:blipFill>
        <p:spPr>
          <a:xfrm>
            <a:off x="2756125" y="3835184"/>
            <a:ext cx="3508093" cy="2882103"/>
          </a:xfrm>
          <a:prstGeom prst="rect">
            <a:avLst/>
          </a:prstGeom>
          <a:noFill/>
          <a:ln>
            <a:noFill/>
          </a:ln>
        </p:spPr>
      </p:pic>
      <p:sp>
        <p:nvSpPr>
          <p:cNvPr id="157" name="Google Shape;157;p7"/>
          <p:cNvSpPr/>
          <p:nvPr/>
        </p:nvSpPr>
        <p:spPr>
          <a:xfrm>
            <a:off x="6123482" y="2188071"/>
            <a:ext cx="915636"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1990</a:t>
            </a:r>
            <a:endParaRPr b="0" i="0" sz="1400" u="none" cap="none" strike="noStrike">
              <a:solidFill>
                <a:srgbClr val="000000"/>
              </a:solidFill>
              <a:latin typeface="Arial"/>
              <a:ea typeface="Arial"/>
              <a:cs typeface="Arial"/>
              <a:sym typeface="Arial"/>
            </a:endParaRPr>
          </a:p>
        </p:txBody>
      </p:sp>
      <p:sp>
        <p:nvSpPr>
          <p:cNvPr id="158" name="Google Shape;158;p7"/>
          <p:cNvSpPr/>
          <p:nvPr/>
        </p:nvSpPr>
        <p:spPr>
          <a:xfrm>
            <a:off x="5338688" y="2782785"/>
            <a:ext cx="182880" cy="182880"/>
          </a:xfrm>
          <a:prstGeom prst="star10">
            <a:avLst>
              <a:gd fmla="val 42533" name="adj"/>
              <a:gd fmla="val 105146" name="hf"/>
            </a:avLst>
          </a:prstGeom>
          <a:solidFill>
            <a:srgbClr val="DA134F"/>
          </a:solidFill>
          <a:ln cap="flat" cmpd="sng" w="12700">
            <a:solidFill>
              <a:srgbClr val="FFFD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9" name="Google Shape;159;p7"/>
          <p:cNvSpPr/>
          <p:nvPr/>
        </p:nvSpPr>
        <p:spPr>
          <a:xfrm>
            <a:off x="4977137" y="2336658"/>
            <a:ext cx="915636"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1983</a:t>
            </a:r>
            <a:endParaRPr b="0" i="0" sz="1400" u="none" cap="none" strike="noStrike">
              <a:solidFill>
                <a:srgbClr val="000000"/>
              </a:solidFill>
              <a:latin typeface="Arial"/>
              <a:ea typeface="Arial"/>
              <a:cs typeface="Arial"/>
              <a:sym typeface="Arial"/>
            </a:endParaRPr>
          </a:p>
        </p:txBody>
      </p:sp>
      <p:cxnSp>
        <p:nvCxnSpPr>
          <p:cNvPr id="160" name="Google Shape;160;p7"/>
          <p:cNvCxnSpPr/>
          <p:nvPr/>
        </p:nvCxnSpPr>
        <p:spPr>
          <a:xfrm rot="10800000">
            <a:off x="4494916" y="2869571"/>
            <a:ext cx="0" cy="962856"/>
          </a:xfrm>
          <a:prstGeom prst="straightConnector1">
            <a:avLst/>
          </a:prstGeom>
          <a:noFill/>
          <a:ln cap="flat" cmpd="sng" w="19050">
            <a:solidFill>
              <a:srgbClr val="D8D8D8"/>
            </a:solidFill>
            <a:prstDash val="solid"/>
            <a:miter lim="800000"/>
            <a:headEnd len="sm" w="sm" type="none"/>
            <a:tailEnd len="sm" w="sm" type="none"/>
          </a:ln>
        </p:spPr>
      </p:cxnSp>
      <p:sp>
        <p:nvSpPr>
          <p:cNvPr id="161" name="Google Shape;161;p7"/>
          <p:cNvSpPr/>
          <p:nvPr/>
        </p:nvSpPr>
        <p:spPr>
          <a:xfrm>
            <a:off x="6401091" y="2663142"/>
            <a:ext cx="365760" cy="365760"/>
          </a:xfrm>
          <a:prstGeom prst="star10">
            <a:avLst>
              <a:gd fmla="val 42533" name="adj"/>
              <a:gd fmla="val 105146" name="hf"/>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2" name="Google Shape;162;p7"/>
          <p:cNvSpPr/>
          <p:nvPr/>
        </p:nvSpPr>
        <p:spPr>
          <a:xfrm rot="8737191">
            <a:off x="6762196" y="2500659"/>
            <a:ext cx="1557087" cy="1112521"/>
          </a:xfrm>
          <a:custGeom>
            <a:rect b="b" l="l" r="r" t="t"/>
            <a:pathLst>
              <a:path extrusionOk="0" h="1112521" w="1557087">
                <a:moveTo>
                  <a:pt x="722544" y="411489"/>
                </a:moveTo>
                <a:cubicBezTo>
                  <a:pt x="1151497" y="460835"/>
                  <a:pt x="1517668" y="801817"/>
                  <a:pt x="1557087" y="1112521"/>
                </a:cubicBezTo>
                <a:cubicBezTo>
                  <a:pt x="1401971" y="1166261"/>
                  <a:pt x="1118811" y="1093776"/>
                  <a:pt x="958646" y="1112521"/>
                </a:cubicBezTo>
                <a:cubicBezTo>
                  <a:pt x="798481" y="1131266"/>
                  <a:pt x="565870" y="1111566"/>
                  <a:pt x="406238" y="1112521"/>
                </a:cubicBezTo>
                <a:cubicBezTo>
                  <a:pt x="448322" y="987031"/>
                  <a:pt x="505967" y="904904"/>
                  <a:pt x="558065" y="776026"/>
                </a:cubicBezTo>
                <a:cubicBezTo>
                  <a:pt x="610163" y="647148"/>
                  <a:pt x="654458" y="569883"/>
                  <a:pt x="722544" y="411489"/>
                </a:cubicBezTo>
                <a:close/>
              </a:path>
              <a:path extrusionOk="0" fill="none" h="1112521" w="1557087">
                <a:moveTo>
                  <a:pt x="0" y="0"/>
                </a:moveTo>
                <a:cubicBezTo>
                  <a:pt x="489658" y="48147"/>
                  <a:pt x="1539568" y="811368"/>
                  <a:pt x="1557087" y="1112521"/>
                </a:cubicBezTo>
              </a:path>
              <a:path extrusionOk="0" fill="none" h="1112521" w="1557087">
                <a:moveTo>
                  <a:pt x="0" y="0"/>
                </a:moveTo>
                <a:cubicBezTo>
                  <a:pt x="464583" y="84959"/>
                  <a:pt x="1533195" y="809516"/>
                  <a:pt x="1557087" y="1112521"/>
                </a:cubicBezTo>
              </a:path>
            </a:pathLst>
          </a:custGeom>
          <a:noFill/>
          <a:ln cap="flat" cmpd="sng" w="28575">
            <a:solidFill>
              <a:srgbClr val="FFFF00"/>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p:nvPr/>
        </p:nvSpPr>
        <p:spPr>
          <a:xfrm>
            <a:off x="8373966" y="2663142"/>
            <a:ext cx="365760" cy="365760"/>
          </a:xfrm>
          <a:prstGeom prst="star10">
            <a:avLst>
              <a:gd fmla="val 42533" name="adj"/>
              <a:gd fmla="val 105146" name="hf"/>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4" name="Google Shape;164;p7"/>
          <p:cNvSpPr txBox="1"/>
          <p:nvPr/>
        </p:nvSpPr>
        <p:spPr>
          <a:xfrm>
            <a:off x="8680388" y="749502"/>
            <a:ext cx="3239413"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FDF2"/>
                </a:solidFill>
                <a:latin typeface="Calibri"/>
                <a:ea typeface="Calibri"/>
                <a:cs typeface="Calibri"/>
                <a:sym typeface="Calibri"/>
              </a:rPr>
              <a:t>Human Genome Project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FFFDF2"/>
              </a:buClr>
              <a:buSzPts val="2400"/>
              <a:buFont typeface="Arial"/>
              <a:buChar char="•"/>
            </a:pPr>
            <a:r>
              <a:rPr b="0" i="0" lang="en-US" sz="2400" u="none" cap="none" strike="noStrike">
                <a:solidFill>
                  <a:srgbClr val="FFFDF2"/>
                </a:solidFill>
                <a:latin typeface="Calibri"/>
                <a:ea typeface="Calibri"/>
                <a:cs typeface="Calibri"/>
                <a:sym typeface="Calibri"/>
              </a:rPr>
              <a:t>13 years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FFFDF2"/>
              </a:buClr>
              <a:buSzPts val="2400"/>
              <a:buFont typeface="Arial"/>
              <a:buChar char="•"/>
            </a:pPr>
            <a:r>
              <a:rPr b="0" i="0" lang="en-US" sz="2400" u="none" cap="none" strike="noStrike">
                <a:solidFill>
                  <a:srgbClr val="FFFDF2"/>
                </a:solidFill>
                <a:latin typeface="Calibri"/>
                <a:ea typeface="Calibri"/>
                <a:cs typeface="Calibri"/>
                <a:sym typeface="Calibri"/>
              </a:rPr>
              <a:t>20 labs/groups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FFFDF2"/>
              </a:buClr>
              <a:buSzPts val="2400"/>
              <a:buFont typeface="Arial"/>
              <a:buChar char="•"/>
            </a:pPr>
            <a:r>
              <a:rPr b="0" i="0" lang="en-US" sz="2400" u="none" cap="none" strike="noStrike">
                <a:solidFill>
                  <a:srgbClr val="FFFDF2"/>
                </a:solidFill>
                <a:latin typeface="Calibri"/>
                <a:ea typeface="Calibri"/>
                <a:cs typeface="Calibri"/>
                <a:sym typeface="Calibri"/>
              </a:rPr>
              <a:t>3 billion dollars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FFFDF2"/>
              </a:buClr>
              <a:buSzPts val="2400"/>
              <a:buFont typeface="Arial"/>
              <a:buChar char="•"/>
            </a:pPr>
            <a:r>
              <a:rPr b="0" i="0" lang="en-US" sz="2400" u="none" cap="none" strike="noStrike">
                <a:solidFill>
                  <a:srgbClr val="FFFDF2"/>
                </a:solidFill>
                <a:latin typeface="Calibri"/>
                <a:ea typeface="Calibri"/>
                <a:cs typeface="Calibri"/>
                <a:sym typeface="Calibri"/>
              </a:rPr>
              <a:t>~ 3 billion bp</a:t>
            </a:r>
            <a:endParaRPr b="0" i="0" sz="1400" u="none" cap="none" strike="noStrike">
              <a:solidFill>
                <a:srgbClr val="000000"/>
              </a:solidFill>
              <a:latin typeface="Arial"/>
              <a:ea typeface="Arial"/>
              <a:cs typeface="Arial"/>
              <a:sym typeface="Arial"/>
            </a:endParaRPr>
          </a:p>
        </p:txBody>
      </p:sp>
      <p:grpSp>
        <p:nvGrpSpPr>
          <p:cNvPr id="165" name="Google Shape;165;p7"/>
          <p:cNvGrpSpPr/>
          <p:nvPr/>
        </p:nvGrpSpPr>
        <p:grpSpPr>
          <a:xfrm>
            <a:off x="1296452" y="2600"/>
            <a:ext cx="2387292" cy="2729165"/>
            <a:chOff x="1296452" y="2600"/>
            <a:chExt cx="2387292" cy="2729165"/>
          </a:xfrm>
        </p:grpSpPr>
        <p:pic>
          <p:nvPicPr>
            <p:cNvPr id="166" name="Google Shape;166;p7"/>
            <p:cNvPicPr preferRelativeResize="0"/>
            <p:nvPr/>
          </p:nvPicPr>
          <p:blipFill rotWithShape="1">
            <a:blip r:embed="rId5">
              <a:alphaModFix/>
            </a:blip>
            <a:srcRect b="0" l="0" r="0" t="0"/>
            <a:stretch/>
          </p:blipFill>
          <p:spPr>
            <a:xfrm>
              <a:off x="1296452" y="262940"/>
              <a:ext cx="2387292" cy="2194560"/>
            </a:xfrm>
            <a:prstGeom prst="rect">
              <a:avLst/>
            </a:prstGeom>
            <a:noFill/>
            <a:ln>
              <a:noFill/>
            </a:ln>
          </p:spPr>
        </p:pic>
        <p:sp>
          <p:nvSpPr>
            <p:cNvPr id="167" name="Google Shape;167;p7"/>
            <p:cNvSpPr/>
            <p:nvPr/>
          </p:nvSpPr>
          <p:spPr>
            <a:xfrm>
              <a:off x="2079878" y="2362433"/>
              <a:ext cx="94929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DF2"/>
                  </a:solidFill>
                  <a:latin typeface="Calibri"/>
                  <a:ea typeface="Calibri"/>
                  <a:cs typeface="Calibri"/>
                  <a:sym typeface="Calibri"/>
                </a:rPr>
                <a:t>5386 bp</a:t>
              </a:r>
              <a:endParaRPr b="0" i="0" sz="1400" u="none" cap="none" strike="noStrike">
                <a:solidFill>
                  <a:srgbClr val="000000"/>
                </a:solidFill>
                <a:latin typeface="Arial"/>
                <a:ea typeface="Arial"/>
                <a:cs typeface="Arial"/>
                <a:sym typeface="Arial"/>
              </a:endParaRPr>
            </a:p>
          </p:txBody>
        </p:sp>
        <p:sp>
          <p:nvSpPr>
            <p:cNvPr id="168" name="Google Shape;168;p7"/>
            <p:cNvSpPr/>
            <p:nvPr/>
          </p:nvSpPr>
          <p:spPr>
            <a:xfrm>
              <a:off x="2142395" y="2600"/>
              <a:ext cx="82426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DF2"/>
                  </a:solidFill>
                  <a:latin typeface="Calibri"/>
                  <a:ea typeface="Calibri"/>
                  <a:cs typeface="Calibri"/>
                  <a:sym typeface="Calibri"/>
                </a:rPr>
                <a:t>φX174</a:t>
              </a:r>
              <a:endParaRPr b="0" i="0" sz="1400" u="none" cap="none" strike="noStrike">
                <a:solidFill>
                  <a:srgbClr val="000000"/>
                </a:solidFill>
                <a:latin typeface="Arial"/>
                <a:ea typeface="Arial"/>
                <a:cs typeface="Arial"/>
                <a:sym typeface="Arial"/>
              </a:endParaRPr>
            </a:p>
          </p:txBody>
        </p:sp>
      </p:grpSp>
      <p:sp>
        <p:nvSpPr>
          <p:cNvPr id="169" name="Google Shape;169;p7"/>
          <p:cNvSpPr/>
          <p:nvPr/>
        </p:nvSpPr>
        <p:spPr>
          <a:xfrm>
            <a:off x="8497389" y="2950039"/>
            <a:ext cx="915636"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2003</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10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1000"/>
                                        <p:tgtEl>
                                          <p:spTgt spid="149"/>
                                        </p:tgtEl>
                                      </p:cBhvr>
                                    </p:animEffect>
                                  </p:childTnLst>
                                </p:cTn>
                              </p:par>
                              <p:par>
                                <p:cTn fill="hold" nodeType="with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500"/>
                                        <p:tgtEl>
                                          <p:spTgt spid="158"/>
                                        </p:tgtEl>
                                      </p:cBhvr>
                                    </p:animEffect>
                                  </p:childTnLst>
                                </p:cTn>
                              </p:par>
                              <p:par>
                                <p:cTn fill="hold" nodeType="with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par>
                                <p:cTn fill="hold" nodeType="with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500"/>
                                        <p:tgtEl>
                                          <p:spTgt spid="161"/>
                                        </p:tgtEl>
                                      </p:cBhvr>
                                    </p:animEffect>
                                  </p:childTnLst>
                                </p:cTn>
                              </p:par>
                              <p:par>
                                <p:cTn fill="hold" nodeType="with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500"/>
                                        <p:tgtEl>
                                          <p:spTgt spid="15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par>
                                <p:cTn fill="hold" nodeType="with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500"/>
                                        <p:tgtEl>
                                          <p:spTgt spid="16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animEffect filter="fade" transition="in">
                                      <p:cBhvr>
                                        <p:cTn dur="500"/>
                                        <p:tgtEl>
                                          <p:spTgt spid="164">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animEffect filter="fade" transition="in">
                                      <p:cBhvr>
                                        <p:cTn dur="500"/>
                                        <p:tgtEl>
                                          <p:spTgt spid="164">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animEffect filter="fade" transition="in">
                                      <p:cBhvr>
                                        <p:cTn dur="500"/>
                                        <p:tgtEl>
                                          <p:spTgt spid="164">
                                            <p:txEl>
                                              <p:pRg end="2" st="2"/>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animEffect filter="fade" transition="in">
                                      <p:cBhvr>
                                        <p:cTn dur="500"/>
                                        <p:tgtEl>
                                          <p:spTgt spid="164">
                                            <p:txEl>
                                              <p:pRg end="3" st="3"/>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64">
                                            <p:txEl>
                                              <p:pRg end="4" st="4"/>
                                            </p:txEl>
                                          </p:spTgt>
                                        </p:tgtEl>
                                        <p:attrNameLst>
                                          <p:attrName>style.visibility</p:attrName>
                                        </p:attrNameLst>
                                      </p:cBhvr>
                                      <p:to>
                                        <p:strVal val="visible"/>
                                      </p:to>
                                    </p:set>
                                    <p:animEffect filter="fade" transition="in">
                                      <p:cBhvr>
                                        <p:cTn dur="500"/>
                                        <p:tgtEl>
                                          <p:spTgt spid="16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cxnSp>
        <p:nvCxnSpPr>
          <p:cNvPr id="174" name="Google Shape;174;p8"/>
          <p:cNvCxnSpPr/>
          <p:nvPr/>
        </p:nvCxnSpPr>
        <p:spPr>
          <a:xfrm>
            <a:off x="0" y="2870096"/>
            <a:ext cx="12192000" cy="0"/>
          </a:xfrm>
          <a:prstGeom prst="straightConnector1">
            <a:avLst/>
          </a:prstGeom>
          <a:noFill/>
          <a:ln cap="flat" cmpd="sng" w="38100">
            <a:solidFill>
              <a:srgbClr val="D8D8D8"/>
            </a:solidFill>
            <a:prstDash val="solid"/>
            <a:miter lim="800000"/>
            <a:headEnd len="sm" w="sm" type="none"/>
            <a:tailEnd len="sm" w="sm" type="none"/>
          </a:ln>
        </p:spPr>
      </p:cxnSp>
      <p:grpSp>
        <p:nvGrpSpPr>
          <p:cNvPr id="175" name="Google Shape;175;p8"/>
          <p:cNvGrpSpPr/>
          <p:nvPr/>
        </p:nvGrpSpPr>
        <p:grpSpPr>
          <a:xfrm>
            <a:off x="103200" y="2181601"/>
            <a:ext cx="1371600" cy="1371600"/>
            <a:chOff x="0" y="1233488"/>
            <a:chExt cx="914400" cy="914400"/>
          </a:xfrm>
        </p:grpSpPr>
        <p:sp>
          <p:nvSpPr>
            <p:cNvPr id="176" name="Google Shape;176;p8"/>
            <p:cNvSpPr/>
            <p:nvPr/>
          </p:nvSpPr>
          <p:spPr>
            <a:xfrm>
              <a:off x="0" y="1233488"/>
              <a:ext cx="914400" cy="914400"/>
            </a:xfrm>
            <a:prstGeom prst="ellipse">
              <a:avLst/>
            </a:prstGeom>
            <a:solidFill>
              <a:srgbClr val="2E75B5"/>
            </a:solidFill>
            <a:ln cap="flat" cmpd="sng" w="9525">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77" name="Google Shape;177;p8"/>
            <p:cNvPicPr preferRelativeResize="0"/>
            <p:nvPr/>
          </p:nvPicPr>
          <p:blipFill rotWithShape="1">
            <a:blip r:embed="rId3">
              <a:alphaModFix/>
            </a:blip>
            <a:srcRect b="0" l="0" r="0" t="0"/>
            <a:stretch/>
          </p:blipFill>
          <p:spPr>
            <a:xfrm flipH="1" rot="1776582">
              <a:off x="331704" y="1272501"/>
              <a:ext cx="250992" cy="827721"/>
            </a:xfrm>
            <a:prstGeom prst="rect">
              <a:avLst/>
            </a:prstGeom>
            <a:noFill/>
            <a:ln>
              <a:noFill/>
            </a:ln>
          </p:spPr>
        </p:pic>
      </p:grpSp>
      <p:sp>
        <p:nvSpPr>
          <p:cNvPr id="178" name="Google Shape;178;p8"/>
          <p:cNvSpPr/>
          <p:nvPr/>
        </p:nvSpPr>
        <p:spPr>
          <a:xfrm>
            <a:off x="11115234" y="2412896"/>
            <a:ext cx="914400" cy="914400"/>
          </a:xfrm>
          <a:prstGeom prst="ellipse">
            <a:avLst/>
          </a:prstGeom>
          <a:solidFill>
            <a:srgbClr val="FF0085"/>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222A35"/>
                </a:solidFill>
                <a:latin typeface="Calibri"/>
                <a:ea typeface="Calibri"/>
                <a:cs typeface="Calibri"/>
                <a:sym typeface="Calibri"/>
              </a:rPr>
              <a:t>2020</a:t>
            </a:r>
            <a:endParaRPr b="0" i="0" sz="1400" u="none" cap="none" strike="noStrike">
              <a:solidFill>
                <a:srgbClr val="000000"/>
              </a:solidFill>
              <a:latin typeface="Arial"/>
              <a:ea typeface="Arial"/>
              <a:cs typeface="Arial"/>
              <a:sym typeface="Arial"/>
            </a:endParaRPr>
          </a:p>
        </p:txBody>
      </p:sp>
      <p:sp>
        <p:nvSpPr>
          <p:cNvPr id="179" name="Google Shape;179;p8"/>
          <p:cNvSpPr/>
          <p:nvPr/>
        </p:nvSpPr>
        <p:spPr>
          <a:xfrm>
            <a:off x="3806326" y="1190826"/>
            <a:ext cx="1371600" cy="1371600"/>
          </a:xfrm>
          <a:prstGeom prst="ellipse">
            <a:avLst/>
          </a:prstGeom>
          <a:solidFill>
            <a:srgbClr val="00B0F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323F4F"/>
                </a:solidFill>
                <a:latin typeface="Calibri"/>
                <a:ea typeface="Calibri"/>
                <a:cs typeface="Calibri"/>
                <a:sym typeface="Calibri"/>
              </a:rPr>
              <a:t>Sanger</a:t>
            </a:r>
            <a:endParaRPr b="0" i="0" sz="1400" u="none" cap="none" strike="noStrike">
              <a:solidFill>
                <a:srgbClr val="000000"/>
              </a:solidFill>
              <a:latin typeface="Arial"/>
              <a:ea typeface="Arial"/>
              <a:cs typeface="Arial"/>
              <a:sym typeface="Arial"/>
            </a:endParaRPr>
          </a:p>
        </p:txBody>
      </p:sp>
      <p:sp>
        <p:nvSpPr>
          <p:cNvPr id="180" name="Google Shape;180;p8"/>
          <p:cNvSpPr/>
          <p:nvPr/>
        </p:nvSpPr>
        <p:spPr>
          <a:xfrm>
            <a:off x="8295997" y="1477748"/>
            <a:ext cx="1097280" cy="10972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Roche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454</a:t>
            </a:r>
            <a:endParaRPr b="0" i="0" sz="1400" u="none" cap="none" strike="noStrike">
              <a:solidFill>
                <a:srgbClr val="000000"/>
              </a:solidFill>
              <a:latin typeface="Arial"/>
              <a:ea typeface="Arial"/>
              <a:cs typeface="Arial"/>
              <a:sym typeface="Arial"/>
            </a:endParaRPr>
          </a:p>
        </p:txBody>
      </p:sp>
      <p:sp>
        <p:nvSpPr>
          <p:cNvPr id="181" name="Google Shape;181;p8"/>
          <p:cNvSpPr/>
          <p:nvPr/>
        </p:nvSpPr>
        <p:spPr>
          <a:xfrm>
            <a:off x="8656450" y="3967376"/>
            <a:ext cx="1097280" cy="10972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Illumina/Solexa</a:t>
            </a:r>
            <a:endParaRPr b="1" i="0" sz="1800" u="none" cap="none" strike="noStrike">
              <a:solidFill>
                <a:srgbClr val="323F4F"/>
              </a:solidFill>
              <a:latin typeface="Calibri"/>
              <a:ea typeface="Calibri"/>
              <a:cs typeface="Calibri"/>
              <a:sym typeface="Calibri"/>
            </a:endParaRPr>
          </a:p>
        </p:txBody>
      </p:sp>
      <p:cxnSp>
        <p:nvCxnSpPr>
          <p:cNvPr id="182" name="Google Shape;182;p8"/>
          <p:cNvCxnSpPr/>
          <p:nvPr/>
        </p:nvCxnSpPr>
        <p:spPr>
          <a:xfrm flipH="1" rot="10800000">
            <a:off x="9005792" y="2884587"/>
            <a:ext cx="2250" cy="168892"/>
          </a:xfrm>
          <a:prstGeom prst="straightConnector1">
            <a:avLst/>
          </a:prstGeom>
          <a:noFill/>
          <a:ln cap="flat" cmpd="sng" w="19050">
            <a:solidFill>
              <a:srgbClr val="D8D8D8"/>
            </a:solidFill>
            <a:prstDash val="solid"/>
            <a:miter lim="800000"/>
            <a:headEnd len="sm" w="sm" type="none"/>
            <a:tailEnd len="sm" w="sm" type="none"/>
          </a:ln>
        </p:spPr>
      </p:cxnSp>
      <p:cxnSp>
        <p:nvCxnSpPr>
          <p:cNvPr id="183" name="Google Shape;183;p8"/>
          <p:cNvCxnSpPr/>
          <p:nvPr/>
        </p:nvCxnSpPr>
        <p:spPr>
          <a:xfrm rot="10800000">
            <a:off x="8844637" y="2575028"/>
            <a:ext cx="0" cy="286082"/>
          </a:xfrm>
          <a:prstGeom prst="straightConnector1">
            <a:avLst/>
          </a:prstGeom>
          <a:noFill/>
          <a:ln cap="flat" cmpd="sng" w="19050">
            <a:solidFill>
              <a:srgbClr val="D8D8D8"/>
            </a:solidFill>
            <a:prstDash val="solid"/>
            <a:miter lim="800000"/>
            <a:headEnd len="sm" w="sm" type="none"/>
            <a:tailEnd len="sm" w="sm" type="none"/>
          </a:ln>
        </p:spPr>
      </p:cxnSp>
      <p:cxnSp>
        <p:nvCxnSpPr>
          <p:cNvPr id="184" name="Google Shape;184;p8"/>
          <p:cNvCxnSpPr/>
          <p:nvPr/>
        </p:nvCxnSpPr>
        <p:spPr>
          <a:xfrm flipH="1">
            <a:off x="9201869" y="2888143"/>
            <a:ext cx="6442" cy="1075375"/>
          </a:xfrm>
          <a:prstGeom prst="straightConnector1">
            <a:avLst/>
          </a:prstGeom>
          <a:noFill/>
          <a:ln cap="flat" cmpd="sng" w="19050">
            <a:solidFill>
              <a:srgbClr val="D8D8D8"/>
            </a:solidFill>
            <a:prstDash val="solid"/>
            <a:miter lim="800000"/>
            <a:headEnd len="sm" w="sm" type="none"/>
            <a:tailEnd len="sm" w="sm" type="none"/>
          </a:ln>
        </p:spPr>
      </p:cxnSp>
      <p:sp>
        <p:nvSpPr>
          <p:cNvPr id="185" name="Google Shape;185;p8"/>
          <p:cNvSpPr txBox="1"/>
          <p:nvPr/>
        </p:nvSpPr>
        <p:spPr>
          <a:xfrm>
            <a:off x="331182" y="3533124"/>
            <a:ext cx="91563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1953</a:t>
            </a:r>
            <a:endParaRPr b="0" i="0" sz="1400" u="none" cap="none" strike="noStrike">
              <a:solidFill>
                <a:srgbClr val="000000"/>
              </a:solidFill>
              <a:latin typeface="Arial"/>
              <a:ea typeface="Arial"/>
              <a:cs typeface="Arial"/>
              <a:sym typeface="Arial"/>
            </a:endParaRPr>
          </a:p>
        </p:txBody>
      </p:sp>
      <p:sp>
        <p:nvSpPr>
          <p:cNvPr id="186" name="Google Shape;186;p8"/>
          <p:cNvSpPr/>
          <p:nvPr/>
        </p:nvSpPr>
        <p:spPr>
          <a:xfrm>
            <a:off x="4034308" y="714079"/>
            <a:ext cx="91563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1977</a:t>
            </a:r>
            <a:endParaRPr b="0" i="0" sz="1400" u="none" cap="none" strike="noStrike">
              <a:solidFill>
                <a:srgbClr val="000000"/>
              </a:solidFill>
              <a:latin typeface="Arial"/>
              <a:ea typeface="Arial"/>
              <a:cs typeface="Arial"/>
              <a:sym typeface="Arial"/>
            </a:endParaRPr>
          </a:p>
        </p:txBody>
      </p:sp>
      <p:sp>
        <p:nvSpPr>
          <p:cNvPr id="187" name="Google Shape;187;p8"/>
          <p:cNvSpPr/>
          <p:nvPr/>
        </p:nvSpPr>
        <p:spPr>
          <a:xfrm>
            <a:off x="8747272" y="5043528"/>
            <a:ext cx="915636"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2007</a:t>
            </a:r>
            <a:endParaRPr b="0" i="0" sz="1400" u="none" cap="none" strike="noStrike">
              <a:solidFill>
                <a:srgbClr val="000000"/>
              </a:solidFill>
              <a:latin typeface="Arial"/>
              <a:ea typeface="Arial"/>
              <a:cs typeface="Arial"/>
              <a:sym typeface="Arial"/>
            </a:endParaRPr>
          </a:p>
        </p:txBody>
      </p:sp>
      <p:sp>
        <p:nvSpPr>
          <p:cNvPr id="188" name="Google Shape;188;p8"/>
          <p:cNvSpPr/>
          <p:nvPr/>
        </p:nvSpPr>
        <p:spPr>
          <a:xfrm>
            <a:off x="8386819" y="1004115"/>
            <a:ext cx="915636"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2005</a:t>
            </a:r>
            <a:endParaRPr b="0" i="0" sz="1400" u="none" cap="none" strike="noStrike">
              <a:solidFill>
                <a:srgbClr val="000000"/>
              </a:solidFill>
              <a:latin typeface="Arial"/>
              <a:ea typeface="Arial"/>
              <a:cs typeface="Arial"/>
              <a:sym typeface="Arial"/>
            </a:endParaRPr>
          </a:p>
        </p:txBody>
      </p:sp>
      <p:sp>
        <p:nvSpPr>
          <p:cNvPr id="189" name="Google Shape;189;p8"/>
          <p:cNvSpPr/>
          <p:nvPr/>
        </p:nvSpPr>
        <p:spPr>
          <a:xfrm>
            <a:off x="8911750" y="3045094"/>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90" name="Google Shape;190;p8"/>
          <p:cNvSpPr/>
          <p:nvPr/>
        </p:nvSpPr>
        <p:spPr>
          <a:xfrm>
            <a:off x="9113650" y="3499085"/>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sp>
        <p:nvSpPr>
          <p:cNvPr id="191" name="Google Shape;191;p8"/>
          <p:cNvSpPr/>
          <p:nvPr/>
        </p:nvSpPr>
        <p:spPr>
          <a:xfrm>
            <a:off x="5484274" y="3309207"/>
            <a:ext cx="915636"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1986</a:t>
            </a:r>
            <a:endParaRPr b="0" i="0" sz="1400" u="none" cap="none" strike="noStrike">
              <a:solidFill>
                <a:srgbClr val="000000"/>
              </a:solidFill>
              <a:latin typeface="Arial"/>
              <a:ea typeface="Arial"/>
              <a:cs typeface="Arial"/>
              <a:sym typeface="Arial"/>
            </a:endParaRPr>
          </a:p>
        </p:txBody>
      </p:sp>
      <p:cxnSp>
        <p:nvCxnSpPr>
          <p:cNvPr id="192" name="Google Shape;192;p8"/>
          <p:cNvCxnSpPr>
            <a:endCxn id="193" idx="4"/>
          </p:cNvCxnSpPr>
          <p:nvPr/>
        </p:nvCxnSpPr>
        <p:spPr>
          <a:xfrm rot="10800000">
            <a:off x="9760447" y="1652258"/>
            <a:ext cx="0" cy="1209000"/>
          </a:xfrm>
          <a:prstGeom prst="straightConnector1">
            <a:avLst/>
          </a:prstGeom>
          <a:noFill/>
          <a:ln cap="flat" cmpd="sng" w="19050">
            <a:solidFill>
              <a:srgbClr val="D8D8D8"/>
            </a:solidFill>
            <a:prstDash val="solid"/>
            <a:miter lim="800000"/>
            <a:headEnd len="sm" w="sm" type="none"/>
            <a:tailEnd len="sm" w="sm" type="none"/>
          </a:ln>
        </p:spPr>
      </p:cxnSp>
      <p:cxnSp>
        <p:nvCxnSpPr>
          <p:cNvPr id="194" name="Google Shape;194;p8"/>
          <p:cNvCxnSpPr/>
          <p:nvPr/>
        </p:nvCxnSpPr>
        <p:spPr>
          <a:xfrm rot="10800000">
            <a:off x="10092369" y="2030051"/>
            <a:ext cx="0" cy="822960"/>
          </a:xfrm>
          <a:prstGeom prst="straightConnector1">
            <a:avLst/>
          </a:prstGeom>
          <a:noFill/>
          <a:ln cap="flat" cmpd="sng" w="19050">
            <a:solidFill>
              <a:srgbClr val="D8D8D8"/>
            </a:solidFill>
            <a:prstDash val="solid"/>
            <a:miter lim="800000"/>
            <a:headEnd len="sm" w="sm" type="none"/>
            <a:tailEnd len="sm" w="sm" type="none"/>
          </a:ln>
        </p:spPr>
      </p:cxnSp>
      <p:cxnSp>
        <p:nvCxnSpPr>
          <p:cNvPr id="195" name="Google Shape;195;p8"/>
          <p:cNvCxnSpPr/>
          <p:nvPr/>
        </p:nvCxnSpPr>
        <p:spPr>
          <a:xfrm rot="10800000">
            <a:off x="10393959" y="2231449"/>
            <a:ext cx="0" cy="640080"/>
          </a:xfrm>
          <a:prstGeom prst="straightConnector1">
            <a:avLst/>
          </a:prstGeom>
          <a:noFill/>
          <a:ln cap="flat" cmpd="sng" w="19050">
            <a:solidFill>
              <a:srgbClr val="D8D8D8"/>
            </a:solidFill>
            <a:prstDash val="solid"/>
            <a:miter lim="800000"/>
            <a:headEnd len="sm" w="sm" type="none"/>
            <a:tailEnd len="sm" w="sm" type="none"/>
          </a:ln>
        </p:spPr>
      </p:cxnSp>
      <p:cxnSp>
        <p:nvCxnSpPr>
          <p:cNvPr id="196" name="Google Shape;196;p8"/>
          <p:cNvCxnSpPr/>
          <p:nvPr/>
        </p:nvCxnSpPr>
        <p:spPr>
          <a:xfrm rot="10800000">
            <a:off x="11000963" y="2579790"/>
            <a:ext cx="0" cy="274320"/>
          </a:xfrm>
          <a:prstGeom prst="straightConnector1">
            <a:avLst/>
          </a:prstGeom>
          <a:noFill/>
          <a:ln cap="flat" cmpd="sng" w="19050">
            <a:solidFill>
              <a:srgbClr val="D8D8D8"/>
            </a:solidFill>
            <a:prstDash val="solid"/>
            <a:miter lim="800000"/>
            <a:headEnd len="sm" w="sm" type="none"/>
            <a:tailEnd len="sm" w="sm" type="none"/>
          </a:ln>
        </p:spPr>
      </p:cxnSp>
      <p:sp>
        <p:nvSpPr>
          <p:cNvPr id="193" name="Google Shape;193;p8"/>
          <p:cNvSpPr/>
          <p:nvPr/>
        </p:nvSpPr>
        <p:spPr>
          <a:xfrm>
            <a:off x="9211807" y="554978"/>
            <a:ext cx="1097280" cy="10972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PacBio</a:t>
            </a:r>
            <a:endParaRPr b="0" i="0" sz="1400" u="none" cap="none" strike="noStrike">
              <a:solidFill>
                <a:srgbClr val="000000"/>
              </a:solidFill>
              <a:latin typeface="Arial"/>
              <a:ea typeface="Arial"/>
              <a:cs typeface="Arial"/>
              <a:sym typeface="Arial"/>
            </a:endParaRPr>
          </a:p>
        </p:txBody>
      </p:sp>
      <p:sp>
        <p:nvSpPr>
          <p:cNvPr id="197" name="Google Shape;197;p8"/>
          <p:cNvSpPr/>
          <p:nvPr/>
        </p:nvSpPr>
        <p:spPr>
          <a:xfrm>
            <a:off x="9302629" y="73380"/>
            <a:ext cx="915636"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2011</a:t>
            </a:r>
            <a:endParaRPr b="0" i="0" sz="1400" u="none" cap="none" strike="noStrike">
              <a:solidFill>
                <a:srgbClr val="000000"/>
              </a:solidFill>
              <a:latin typeface="Arial"/>
              <a:ea typeface="Arial"/>
              <a:cs typeface="Arial"/>
              <a:sym typeface="Arial"/>
            </a:endParaRPr>
          </a:p>
        </p:txBody>
      </p:sp>
      <p:sp>
        <p:nvSpPr>
          <p:cNvPr id="198" name="Google Shape;198;p8"/>
          <p:cNvSpPr/>
          <p:nvPr/>
        </p:nvSpPr>
        <p:spPr>
          <a:xfrm>
            <a:off x="10000929" y="184549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sp>
        <p:nvSpPr>
          <p:cNvPr id="199" name="Google Shape;199;p8"/>
          <p:cNvSpPr/>
          <p:nvPr/>
        </p:nvSpPr>
        <p:spPr>
          <a:xfrm>
            <a:off x="10302519" y="204520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sp>
        <p:nvSpPr>
          <p:cNvPr id="200" name="Google Shape;200;p8"/>
          <p:cNvSpPr/>
          <p:nvPr/>
        </p:nvSpPr>
        <p:spPr>
          <a:xfrm>
            <a:off x="10908640" y="2390531"/>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cxnSp>
        <p:nvCxnSpPr>
          <p:cNvPr id="201" name="Google Shape;201;p8"/>
          <p:cNvCxnSpPr/>
          <p:nvPr/>
        </p:nvCxnSpPr>
        <p:spPr>
          <a:xfrm flipH="1" rot="10800000">
            <a:off x="9631723" y="2873695"/>
            <a:ext cx="2250" cy="822960"/>
          </a:xfrm>
          <a:prstGeom prst="straightConnector1">
            <a:avLst/>
          </a:prstGeom>
          <a:noFill/>
          <a:ln cap="flat" cmpd="sng" w="19050">
            <a:solidFill>
              <a:srgbClr val="D8D8D8"/>
            </a:solidFill>
            <a:prstDash val="solid"/>
            <a:miter lim="800000"/>
            <a:headEnd len="sm" w="sm" type="none"/>
            <a:tailEnd len="sm" w="sm" type="none"/>
          </a:ln>
        </p:spPr>
      </p:cxnSp>
      <p:sp>
        <p:nvSpPr>
          <p:cNvPr id="202" name="Google Shape;202;p8"/>
          <p:cNvSpPr/>
          <p:nvPr/>
        </p:nvSpPr>
        <p:spPr>
          <a:xfrm>
            <a:off x="9537681" y="3679404"/>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03" name="Google Shape;203;p8"/>
          <p:cNvSpPr/>
          <p:nvPr/>
        </p:nvSpPr>
        <p:spPr>
          <a:xfrm>
            <a:off x="9669007" y="2311665"/>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04" name="Google Shape;204;p8"/>
          <p:cNvSpPr/>
          <p:nvPr/>
        </p:nvSpPr>
        <p:spPr>
          <a:xfrm>
            <a:off x="9850148" y="3193654"/>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205" name="Google Shape;205;p8"/>
          <p:cNvCxnSpPr/>
          <p:nvPr/>
        </p:nvCxnSpPr>
        <p:spPr>
          <a:xfrm rot="10800000">
            <a:off x="9941588" y="2866360"/>
            <a:ext cx="0" cy="345654"/>
          </a:xfrm>
          <a:prstGeom prst="straightConnector1">
            <a:avLst/>
          </a:prstGeom>
          <a:noFill/>
          <a:ln cap="flat" cmpd="sng" w="19050">
            <a:solidFill>
              <a:srgbClr val="D8D8D8"/>
            </a:solidFill>
            <a:prstDash val="solid"/>
            <a:miter lim="800000"/>
            <a:headEnd len="sm" w="sm" type="none"/>
            <a:tailEnd len="sm" w="sm" type="none"/>
          </a:ln>
        </p:spPr>
      </p:cxnSp>
      <p:sp>
        <p:nvSpPr>
          <p:cNvPr id="206" name="Google Shape;206;p8"/>
          <p:cNvSpPr/>
          <p:nvPr/>
        </p:nvSpPr>
        <p:spPr>
          <a:xfrm>
            <a:off x="10302519" y="3047366"/>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207" name="Google Shape;207;p8"/>
          <p:cNvCxnSpPr/>
          <p:nvPr/>
        </p:nvCxnSpPr>
        <p:spPr>
          <a:xfrm rot="10800000">
            <a:off x="10393959" y="2868057"/>
            <a:ext cx="0" cy="182880"/>
          </a:xfrm>
          <a:prstGeom prst="straightConnector1">
            <a:avLst/>
          </a:prstGeom>
          <a:noFill/>
          <a:ln cap="flat" cmpd="sng" w="19050">
            <a:solidFill>
              <a:srgbClr val="D8D8D8"/>
            </a:solidFill>
            <a:prstDash val="solid"/>
            <a:miter lim="800000"/>
            <a:headEnd len="sm" w="sm" type="none"/>
            <a:tailEnd len="sm" w="sm" type="none"/>
          </a:ln>
        </p:spPr>
      </p:cxnSp>
      <p:cxnSp>
        <p:nvCxnSpPr>
          <p:cNvPr id="208" name="Google Shape;208;p8"/>
          <p:cNvCxnSpPr>
            <a:endCxn id="209" idx="0"/>
          </p:cNvCxnSpPr>
          <p:nvPr/>
        </p:nvCxnSpPr>
        <p:spPr>
          <a:xfrm>
            <a:off x="10249143" y="2864718"/>
            <a:ext cx="0" cy="2414700"/>
          </a:xfrm>
          <a:prstGeom prst="straightConnector1">
            <a:avLst/>
          </a:prstGeom>
          <a:noFill/>
          <a:ln cap="flat" cmpd="sng" w="19050">
            <a:solidFill>
              <a:srgbClr val="D8D8D8"/>
            </a:solidFill>
            <a:prstDash val="solid"/>
            <a:miter lim="800000"/>
            <a:headEnd len="sm" w="sm" type="none"/>
            <a:tailEnd len="sm" w="sm" type="none"/>
          </a:ln>
        </p:spPr>
      </p:cxnSp>
      <p:sp>
        <p:nvSpPr>
          <p:cNvPr id="209" name="Google Shape;209;p8"/>
          <p:cNvSpPr/>
          <p:nvPr/>
        </p:nvSpPr>
        <p:spPr>
          <a:xfrm>
            <a:off x="9700503" y="5279418"/>
            <a:ext cx="1097280" cy="10972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23F4F"/>
                </a:solidFill>
                <a:latin typeface="Calibri"/>
                <a:ea typeface="Calibri"/>
                <a:cs typeface="Calibri"/>
                <a:sym typeface="Calibri"/>
              </a:rPr>
              <a:t>Oxford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23F4F"/>
                </a:solidFill>
                <a:latin typeface="Calibri"/>
                <a:ea typeface="Calibri"/>
                <a:cs typeface="Calibri"/>
                <a:sym typeface="Calibri"/>
              </a:rPr>
              <a:t>Nanopore</a:t>
            </a:r>
            <a:endParaRPr b="0" i="0" sz="1400" u="none" cap="none" strike="noStrike">
              <a:solidFill>
                <a:srgbClr val="000000"/>
              </a:solidFill>
              <a:latin typeface="Arial"/>
              <a:ea typeface="Arial"/>
              <a:cs typeface="Arial"/>
              <a:sym typeface="Arial"/>
            </a:endParaRPr>
          </a:p>
        </p:txBody>
      </p:sp>
      <p:sp>
        <p:nvSpPr>
          <p:cNvPr id="210" name="Google Shape;210;p8"/>
          <p:cNvSpPr/>
          <p:nvPr/>
        </p:nvSpPr>
        <p:spPr>
          <a:xfrm>
            <a:off x="9806439" y="6345159"/>
            <a:ext cx="915636"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2014</a:t>
            </a:r>
            <a:endParaRPr b="0" i="0" sz="1400" u="none" cap="none" strike="noStrike">
              <a:solidFill>
                <a:srgbClr val="000000"/>
              </a:solidFill>
              <a:latin typeface="Arial"/>
              <a:ea typeface="Arial"/>
              <a:cs typeface="Arial"/>
              <a:sym typeface="Arial"/>
            </a:endParaRPr>
          </a:p>
        </p:txBody>
      </p:sp>
      <p:sp>
        <p:nvSpPr>
          <p:cNvPr id="211" name="Google Shape;211;p8"/>
          <p:cNvSpPr/>
          <p:nvPr/>
        </p:nvSpPr>
        <p:spPr>
          <a:xfrm>
            <a:off x="10607805" y="4985093"/>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212" name="Google Shape;212;p8"/>
          <p:cNvCxnSpPr/>
          <p:nvPr/>
        </p:nvCxnSpPr>
        <p:spPr>
          <a:xfrm rot="10800000">
            <a:off x="10699245" y="2879150"/>
            <a:ext cx="0" cy="2103120"/>
          </a:xfrm>
          <a:prstGeom prst="straightConnector1">
            <a:avLst/>
          </a:prstGeom>
          <a:noFill/>
          <a:ln cap="flat" cmpd="sng" w="19050">
            <a:solidFill>
              <a:srgbClr val="D8D8D8"/>
            </a:solidFill>
            <a:prstDash val="solid"/>
            <a:miter lim="800000"/>
            <a:headEnd len="sm" w="sm" type="none"/>
            <a:tailEnd len="sm" w="sm" type="none"/>
          </a:ln>
        </p:spPr>
      </p:cxnSp>
      <p:cxnSp>
        <p:nvCxnSpPr>
          <p:cNvPr id="213" name="Google Shape;213;p8"/>
          <p:cNvCxnSpPr/>
          <p:nvPr/>
        </p:nvCxnSpPr>
        <p:spPr>
          <a:xfrm rot="10800000">
            <a:off x="10852206" y="2875684"/>
            <a:ext cx="0" cy="1737360"/>
          </a:xfrm>
          <a:prstGeom prst="straightConnector1">
            <a:avLst/>
          </a:prstGeom>
          <a:noFill/>
          <a:ln cap="flat" cmpd="sng" w="19050">
            <a:solidFill>
              <a:srgbClr val="D8D8D8"/>
            </a:solidFill>
            <a:prstDash val="solid"/>
            <a:miter lim="800000"/>
            <a:headEnd len="sm" w="sm" type="none"/>
            <a:tailEnd len="sm" w="sm" type="none"/>
          </a:ln>
        </p:spPr>
      </p:cxnSp>
      <p:sp>
        <p:nvSpPr>
          <p:cNvPr id="214" name="Google Shape;214;p8"/>
          <p:cNvSpPr/>
          <p:nvPr/>
        </p:nvSpPr>
        <p:spPr>
          <a:xfrm>
            <a:off x="10760766" y="4590407"/>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15" name="Google Shape;215;p8"/>
          <p:cNvSpPr/>
          <p:nvPr/>
        </p:nvSpPr>
        <p:spPr>
          <a:xfrm>
            <a:off x="10908565" y="4245004"/>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216" name="Google Shape;216;p8"/>
          <p:cNvCxnSpPr/>
          <p:nvPr/>
        </p:nvCxnSpPr>
        <p:spPr>
          <a:xfrm rot="10800000">
            <a:off x="11000954" y="2873703"/>
            <a:ext cx="0" cy="1371600"/>
          </a:xfrm>
          <a:prstGeom prst="straightConnector1">
            <a:avLst/>
          </a:prstGeom>
          <a:noFill/>
          <a:ln cap="flat" cmpd="sng" w="19050">
            <a:solidFill>
              <a:srgbClr val="D8D8D8"/>
            </a:solidFill>
            <a:prstDash val="solid"/>
            <a:miter lim="800000"/>
            <a:headEnd len="sm" w="sm" type="none"/>
            <a:tailEnd len="sm" w="sm" type="none"/>
          </a:ln>
        </p:spPr>
      </p:cxnSp>
      <p:sp>
        <p:nvSpPr>
          <p:cNvPr id="217" name="Google Shape;217;p8"/>
          <p:cNvSpPr/>
          <p:nvPr/>
        </p:nvSpPr>
        <p:spPr>
          <a:xfrm>
            <a:off x="5338688" y="2782785"/>
            <a:ext cx="182880" cy="182880"/>
          </a:xfrm>
          <a:prstGeom prst="star10">
            <a:avLst>
              <a:gd fmla="val 42533" name="adj"/>
              <a:gd fmla="val 105146" name="hf"/>
            </a:avLst>
          </a:prstGeom>
          <a:solidFill>
            <a:srgbClr val="DA134F"/>
          </a:solidFill>
          <a:ln cap="flat" cmpd="sng" w="12700">
            <a:solidFill>
              <a:srgbClr val="FFFD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8" name="Google Shape;218;p8"/>
          <p:cNvSpPr/>
          <p:nvPr/>
        </p:nvSpPr>
        <p:spPr>
          <a:xfrm>
            <a:off x="4977137" y="2336658"/>
            <a:ext cx="915636"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1983</a:t>
            </a:r>
            <a:endParaRPr b="0" i="0" sz="1400" u="none" cap="none" strike="noStrike">
              <a:solidFill>
                <a:srgbClr val="000000"/>
              </a:solidFill>
              <a:latin typeface="Arial"/>
              <a:ea typeface="Arial"/>
              <a:cs typeface="Arial"/>
              <a:sym typeface="Arial"/>
            </a:endParaRPr>
          </a:p>
        </p:txBody>
      </p:sp>
      <p:sp>
        <p:nvSpPr>
          <p:cNvPr id="219" name="Google Shape;219;p8"/>
          <p:cNvSpPr/>
          <p:nvPr/>
        </p:nvSpPr>
        <p:spPr>
          <a:xfrm>
            <a:off x="10000929" y="2515868"/>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C00000"/>
              </a:solidFill>
              <a:latin typeface="Calibri"/>
              <a:ea typeface="Calibri"/>
              <a:cs typeface="Calibri"/>
              <a:sym typeface="Calibri"/>
            </a:endParaRPr>
          </a:p>
        </p:txBody>
      </p:sp>
      <p:sp>
        <p:nvSpPr>
          <p:cNvPr id="220" name="Google Shape;220;p8"/>
          <p:cNvSpPr/>
          <p:nvPr/>
        </p:nvSpPr>
        <p:spPr>
          <a:xfrm>
            <a:off x="10607805" y="3355640"/>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221" name="Google Shape;221;p8"/>
          <p:cNvCxnSpPr/>
          <p:nvPr/>
        </p:nvCxnSpPr>
        <p:spPr>
          <a:xfrm rot="10800000">
            <a:off x="4492126" y="2562426"/>
            <a:ext cx="0" cy="318690"/>
          </a:xfrm>
          <a:prstGeom prst="straightConnector1">
            <a:avLst/>
          </a:prstGeom>
          <a:noFill/>
          <a:ln cap="flat" cmpd="sng" w="19050">
            <a:solidFill>
              <a:srgbClr val="D8D8D8"/>
            </a:solidFill>
            <a:prstDash val="solid"/>
            <a:miter lim="800000"/>
            <a:headEnd len="sm" w="sm" type="none"/>
            <a:tailEnd len="sm" w="sm" type="none"/>
          </a:ln>
        </p:spPr>
      </p:cxnSp>
      <p:pic>
        <p:nvPicPr>
          <p:cNvPr id="222" name="Google Shape;222;p8"/>
          <p:cNvPicPr preferRelativeResize="0"/>
          <p:nvPr/>
        </p:nvPicPr>
        <p:blipFill rotWithShape="1">
          <a:blip r:embed="rId4">
            <a:alphaModFix/>
          </a:blip>
          <a:srcRect b="5908" l="0" r="0" t="9107"/>
          <a:stretch/>
        </p:blipFill>
        <p:spPr>
          <a:xfrm>
            <a:off x="2750870" y="3835184"/>
            <a:ext cx="3508093" cy="2882103"/>
          </a:xfrm>
          <a:prstGeom prst="rect">
            <a:avLst/>
          </a:prstGeom>
          <a:noFill/>
          <a:ln>
            <a:noFill/>
          </a:ln>
        </p:spPr>
      </p:pic>
      <p:cxnSp>
        <p:nvCxnSpPr>
          <p:cNvPr id="223" name="Google Shape;223;p8"/>
          <p:cNvCxnSpPr/>
          <p:nvPr/>
        </p:nvCxnSpPr>
        <p:spPr>
          <a:xfrm rot="10800000">
            <a:off x="4490257" y="2869571"/>
            <a:ext cx="0" cy="962856"/>
          </a:xfrm>
          <a:prstGeom prst="straightConnector1">
            <a:avLst/>
          </a:prstGeom>
          <a:noFill/>
          <a:ln cap="flat" cmpd="sng" w="19050">
            <a:solidFill>
              <a:srgbClr val="D8D8D8"/>
            </a:solidFill>
            <a:prstDash val="solid"/>
            <a:miter lim="800000"/>
            <a:headEnd len="sm" w="sm" type="none"/>
            <a:tailEnd len="sm" w="sm" type="none"/>
          </a:ln>
        </p:spPr>
      </p:cxnSp>
      <p:sp>
        <p:nvSpPr>
          <p:cNvPr id="224" name="Google Shape;224;p8"/>
          <p:cNvSpPr/>
          <p:nvPr/>
        </p:nvSpPr>
        <p:spPr>
          <a:xfrm>
            <a:off x="5804932" y="3056943"/>
            <a:ext cx="274320" cy="274320"/>
          </a:xfrm>
          <a:prstGeom prst="ellipse">
            <a:avLst/>
          </a:prstGeom>
          <a:solidFill>
            <a:srgbClr val="00B0F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cxnSp>
        <p:nvCxnSpPr>
          <p:cNvPr id="225" name="Google Shape;225;p8"/>
          <p:cNvCxnSpPr/>
          <p:nvPr/>
        </p:nvCxnSpPr>
        <p:spPr>
          <a:xfrm flipH="1" rot="10800000">
            <a:off x="5942092" y="2888826"/>
            <a:ext cx="2250" cy="168892"/>
          </a:xfrm>
          <a:prstGeom prst="straightConnector1">
            <a:avLst/>
          </a:prstGeom>
          <a:noFill/>
          <a:ln cap="flat" cmpd="sng" w="19050">
            <a:solidFill>
              <a:srgbClr val="D8D8D8"/>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1000"/>
                                        <p:tgtEl>
                                          <p:spTgt spid="180"/>
                                        </p:tgtEl>
                                      </p:cBhvr>
                                    </p:animEffect>
                                  </p:childTnLst>
                                </p:cTn>
                              </p:par>
                              <p:par>
                                <p:cTn fill="hold" nodeType="with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500"/>
                                        <p:tgtEl>
                                          <p:spTgt spid="18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par>
                                <p:cTn fill="hold" nodeType="with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
                                        <p:tgtEl>
                                          <p:spTgt spid="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000"/>
                                        <p:tgtEl>
                                          <p:spTgt spid="19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par>
                                <p:cTn fill="hold" nodeType="with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1000"/>
                                        <p:tgtEl>
                                          <p:spTgt spid="204"/>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000"/>
                                        <p:tgtEl>
                                          <p:spTgt spid="198"/>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500"/>
                                        <p:tgtEl>
                                          <p:spTgt spid="209"/>
                                        </p:tgtEl>
                                      </p:cBhvr>
                                    </p:animEffect>
                                  </p:childTnLst>
                                </p:cTn>
                              </p:par>
                              <p:par>
                                <p:cTn fill="hold" nodeType="with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500"/>
                                        <p:tgtEl>
                                          <p:spTgt spid="2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cxnSp>
        <p:nvCxnSpPr>
          <p:cNvPr id="230" name="Google Shape;230;p9"/>
          <p:cNvCxnSpPr/>
          <p:nvPr/>
        </p:nvCxnSpPr>
        <p:spPr>
          <a:xfrm>
            <a:off x="0" y="2870096"/>
            <a:ext cx="12192000" cy="0"/>
          </a:xfrm>
          <a:prstGeom prst="straightConnector1">
            <a:avLst/>
          </a:prstGeom>
          <a:noFill/>
          <a:ln cap="flat" cmpd="sng" w="38100">
            <a:solidFill>
              <a:srgbClr val="D8D8D8"/>
            </a:solidFill>
            <a:prstDash val="solid"/>
            <a:miter lim="800000"/>
            <a:headEnd len="sm" w="sm" type="none"/>
            <a:tailEnd len="sm" w="sm" type="none"/>
          </a:ln>
        </p:spPr>
      </p:cxnSp>
      <p:sp>
        <p:nvSpPr>
          <p:cNvPr id="231" name="Google Shape;231;p9"/>
          <p:cNvSpPr/>
          <p:nvPr/>
        </p:nvSpPr>
        <p:spPr>
          <a:xfrm>
            <a:off x="11115234" y="2412896"/>
            <a:ext cx="914400" cy="914400"/>
          </a:xfrm>
          <a:prstGeom prst="ellipse">
            <a:avLst/>
          </a:prstGeom>
          <a:solidFill>
            <a:srgbClr val="FF0085"/>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222A35"/>
                </a:solidFill>
                <a:latin typeface="Calibri"/>
                <a:ea typeface="Calibri"/>
                <a:cs typeface="Calibri"/>
                <a:sym typeface="Calibri"/>
              </a:rPr>
              <a:t>2020</a:t>
            </a:r>
            <a:endParaRPr b="0" i="0" sz="1400" u="none" cap="none" strike="noStrike">
              <a:solidFill>
                <a:srgbClr val="000000"/>
              </a:solidFill>
              <a:latin typeface="Arial"/>
              <a:ea typeface="Arial"/>
              <a:cs typeface="Arial"/>
              <a:sym typeface="Arial"/>
            </a:endParaRPr>
          </a:p>
        </p:txBody>
      </p:sp>
      <p:sp>
        <p:nvSpPr>
          <p:cNvPr id="232" name="Google Shape;232;p9"/>
          <p:cNvSpPr/>
          <p:nvPr/>
        </p:nvSpPr>
        <p:spPr>
          <a:xfrm>
            <a:off x="8295997" y="1477748"/>
            <a:ext cx="1097280" cy="10972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Roche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454</a:t>
            </a:r>
            <a:endParaRPr b="0" i="0" sz="1400" u="none" cap="none" strike="noStrike">
              <a:solidFill>
                <a:srgbClr val="000000"/>
              </a:solidFill>
              <a:latin typeface="Arial"/>
              <a:ea typeface="Arial"/>
              <a:cs typeface="Arial"/>
              <a:sym typeface="Arial"/>
            </a:endParaRPr>
          </a:p>
        </p:txBody>
      </p:sp>
      <p:sp>
        <p:nvSpPr>
          <p:cNvPr id="233" name="Google Shape;233;p9"/>
          <p:cNvSpPr/>
          <p:nvPr/>
        </p:nvSpPr>
        <p:spPr>
          <a:xfrm>
            <a:off x="8656450" y="3967376"/>
            <a:ext cx="1097280" cy="10972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Illumina/Solexa</a:t>
            </a:r>
            <a:endParaRPr b="1" i="0" sz="1800" u="none" cap="none" strike="noStrike">
              <a:solidFill>
                <a:srgbClr val="323F4F"/>
              </a:solidFill>
              <a:latin typeface="Calibri"/>
              <a:ea typeface="Calibri"/>
              <a:cs typeface="Calibri"/>
              <a:sym typeface="Calibri"/>
            </a:endParaRPr>
          </a:p>
        </p:txBody>
      </p:sp>
      <p:cxnSp>
        <p:nvCxnSpPr>
          <p:cNvPr id="234" name="Google Shape;234;p9"/>
          <p:cNvCxnSpPr/>
          <p:nvPr/>
        </p:nvCxnSpPr>
        <p:spPr>
          <a:xfrm flipH="1" rot="10800000">
            <a:off x="9005792" y="2884587"/>
            <a:ext cx="2250" cy="168892"/>
          </a:xfrm>
          <a:prstGeom prst="straightConnector1">
            <a:avLst/>
          </a:prstGeom>
          <a:noFill/>
          <a:ln cap="flat" cmpd="sng" w="19050">
            <a:solidFill>
              <a:srgbClr val="D8D8D8"/>
            </a:solidFill>
            <a:prstDash val="solid"/>
            <a:miter lim="800000"/>
            <a:headEnd len="sm" w="sm" type="none"/>
            <a:tailEnd len="sm" w="sm" type="none"/>
          </a:ln>
        </p:spPr>
      </p:cxnSp>
      <p:cxnSp>
        <p:nvCxnSpPr>
          <p:cNvPr id="235" name="Google Shape;235;p9"/>
          <p:cNvCxnSpPr/>
          <p:nvPr/>
        </p:nvCxnSpPr>
        <p:spPr>
          <a:xfrm rot="10800000">
            <a:off x="8844637" y="2575028"/>
            <a:ext cx="0" cy="286082"/>
          </a:xfrm>
          <a:prstGeom prst="straightConnector1">
            <a:avLst/>
          </a:prstGeom>
          <a:noFill/>
          <a:ln cap="flat" cmpd="sng" w="19050">
            <a:solidFill>
              <a:srgbClr val="D8D8D8"/>
            </a:solidFill>
            <a:prstDash val="solid"/>
            <a:miter lim="800000"/>
            <a:headEnd len="sm" w="sm" type="none"/>
            <a:tailEnd len="sm" w="sm" type="none"/>
          </a:ln>
        </p:spPr>
      </p:cxnSp>
      <p:cxnSp>
        <p:nvCxnSpPr>
          <p:cNvPr id="236" name="Google Shape;236;p9"/>
          <p:cNvCxnSpPr/>
          <p:nvPr/>
        </p:nvCxnSpPr>
        <p:spPr>
          <a:xfrm flipH="1">
            <a:off x="9201869" y="2888143"/>
            <a:ext cx="6442" cy="1075375"/>
          </a:xfrm>
          <a:prstGeom prst="straightConnector1">
            <a:avLst/>
          </a:prstGeom>
          <a:noFill/>
          <a:ln cap="flat" cmpd="sng" w="19050">
            <a:solidFill>
              <a:srgbClr val="D8D8D8"/>
            </a:solidFill>
            <a:prstDash val="solid"/>
            <a:miter lim="800000"/>
            <a:headEnd len="sm" w="sm" type="none"/>
            <a:tailEnd len="sm" w="sm" type="none"/>
          </a:ln>
        </p:spPr>
      </p:cxnSp>
      <p:sp>
        <p:nvSpPr>
          <p:cNvPr id="237" name="Google Shape;237;p9"/>
          <p:cNvSpPr/>
          <p:nvPr/>
        </p:nvSpPr>
        <p:spPr>
          <a:xfrm>
            <a:off x="8747272" y="5043528"/>
            <a:ext cx="915636"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2007</a:t>
            </a:r>
            <a:endParaRPr b="0" i="0" sz="1400" u="none" cap="none" strike="noStrike">
              <a:solidFill>
                <a:srgbClr val="000000"/>
              </a:solidFill>
              <a:latin typeface="Arial"/>
              <a:ea typeface="Arial"/>
              <a:cs typeface="Arial"/>
              <a:sym typeface="Arial"/>
            </a:endParaRPr>
          </a:p>
        </p:txBody>
      </p:sp>
      <p:sp>
        <p:nvSpPr>
          <p:cNvPr id="238" name="Google Shape;238;p9"/>
          <p:cNvSpPr/>
          <p:nvPr/>
        </p:nvSpPr>
        <p:spPr>
          <a:xfrm>
            <a:off x="8386819" y="1004115"/>
            <a:ext cx="915636"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2005</a:t>
            </a:r>
            <a:endParaRPr b="0" i="0" sz="1400" u="none" cap="none" strike="noStrike">
              <a:solidFill>
                <a:srgbClr val="000000"/>
              </a:solidFill>
              <a:latin typeface="Arial"/>
              <a:ea typeface="Arial"/>
              <a:cs typeface="Arial"/>
              <a:sym typeface="Arial"/>
            </a:endParaRPr>
          </a:p>
        </p:txBody>
      </p:sp>
      <p:sp>
        <p:nvSpPr>
          <p:cNvPr id="239" name="Google Shape;239;p9"/>
          <p:cNvSpPr/>
          <p:nvPr/>
        </p:nvSpPr>
        <p:spPr>
          <a:xfrm>
            <a:off x="8911750" y="3045094"/>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40" name="Google Shape;240;p9"/>
          <p:cNvSpPr/>
          <p:nvPr/>
        </p:nvSpPr>
        <p:spPr>
          <a:xfrm>
            <a:off x="9113650" y="3499085"/>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cxnSp>
        <p:nvCxnSpPr>
          <p:cNvPr id="241" name="Google Shape;241;p9"/>
          <p:cNvCxnSpPr>
            <a:endCxn id="242" idx="4"/>
          </p:cNvCxnSpPr>
          <p:nvPr/>
        </p:nvCxnSpPr>
        <p:spPr>
          <a:xfrm rot="10800000">
            <a:off x="9760447" y="1652258"/>
            <a:ext cx="0" cy="1209000"/>
          </a:xfrm>
          <a:prstGeom prst="straightConnector1">
            <a:avLst/>
          </a:prstGeom>
          <a:noFill/>
          <a:ln cap="flat" cmpd="sng" w="19050">
            <a:solidFill>
              <a:srgbClr val="D8D8D8"/>
            </a:solidFill>
            <a:prstDash val="solid"/>
            <a:miter lim="800000"/>
            <a:headEnd len="sm" w="sm" type="none"/>
            <a:tailEnd len="sm" w="sm" type="none"/>
          </a:ln>
        </p:spPr>
      </p:cxnSp>
      <p:cxnSp>
        <p:nvCxnSpPr>
          <p:cNvPr id="243" name="Google Shape;243;p9"/>
          <p:cNvCxnSpPr/>
          <p:nvPr/>
        </p:nvCxnSpPr>
        <p:spPr>
          <a:xfrm rot="10800000">
            <a:off x="10092369" y="2030051"/>
            <a:ext cx="0" cy="822960"/>
          </a:xfrm>
          <a:prstGeom prst="straightConnector1">
            <a:avLst/>
          </a:prstGeom>
          <a:noFill/>
          <a:ln cap="flat" cmpd="sng" w="19050">
            <a:solidFill>
              <a:srgbClr val="D8D8D8"/>
            </a:solidFill>
            <a:prstDash val="solid"/>
            <a:miter lim="800000"/>
            <a:headEnd len="sm" w="sm" type="none"/>
            <a:tailEnd len="sm" w="sm" type="none"/>
          </a:ln>
        </p:spPr>
      </p:cxnSp>
      <p:cxnSp>
        <p:nvCxnSpPr>
          <p:cNvPr id="244" name="Google Shape;244;p9"/>
          <p:cNvCxnSpPr/>
          <p:nvPr/>
        </p:nvCxnSpPr>
        <p:spPr>
          <a:xfrm rot="10800000">
            <a:off x="10393959" y="2231449"/>
            <a:ext cx="0" cy="640080"/>
          </a:xfrm>
          <a:prstGeom prst="straightConnector1">
            <a:avLst/>
          </a:prstGeom>
          <a:noFill/>
          <a:ln cap="flat" cmpd="sng" w="19050">
            <a:solidFill>
              <a:srgbClr val="D8D8D8"/>
            </a:solidFill>
            <a:prstDash val="solid"/>
            <a:miter lim="800000"/>
            <a:headEnd len="sm" w="sm" type="none"/>
            <a:tailEnd len="sm" w="sm" type="none"/>
          </a:ln>
        </p:spPr>
      </p:cxnSp>
      <p:cxnSp>
        <p:nvCxnSpPr>
          <p:cNvPr id="245" name="Google Shape;245;p9"/>
          <p:cNvCxnSpPr/>
          <p:nvPr/>
        </p:nvCxnSpPr>
        <p:spPr>
          <a:xfrm rot="10800000">
            <a:off x="11000963" y="2579790"/>
            <a:ext cx="0" cy="274320"/>
          </a:xfrm>
          <a:prstGeom prst="straightConnector1">
            <a:avLst/>
          </a:prstGeom>
          <a:noFill/>
          <a:ln cap="flat" cmpd="sng" w="19050">
            <a:solidFill>
              <a:srgbClr val="D8D8D8"/>
            </a:solidFill>
            <a:prstDash val="solid"/>
            <a:miter lim="800000"/>
            <a:headEnd len="sm" w="sm" type="none"/>
            <a:tailEnd len="sm" w="sm" type="none"/>
          </a:ln>
        </p:spPr>
      </p:cxnSp>
      <p:sp>
        <p:nvSpPr>
          <p:cNvPr id="242" name="Google Shape;242;p9"/>
          <p:cNvSpPr/>
          <p:nvPr/>
        </p:nvSpPr>
        <p:spPr>
          <a:xfrm>
            <a:off x="9211807" y="554978"/>
            <a:ext cx="1097280" cy="10972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PacBio</a:t>
            </a:r>
            <a:endParaRPr b="0" i="0" sz="1400" u="none" cap="none" strike="noStrike">
              <a:solidFill>
                <a:srgbClr val="000000"/>
              </a:solidFill>
              <a:latin typeface="Arial"/>
              <a:ea typeface="Arial"/>
              <a:cs typeface="Arial"/>
              <a:sym typeface="Arial"/>
            </a:endParaRPr>
          </a:p>
        </p:txBody>
      </p:sp>
      <p:sp>
        <p:nvSpPr>
          <p:cNvPr id="246" name="Google Shape;246;p9"/>
          <p:cNvSpPr/>
          <p:nvPr/>
        </p:nvSpPr>
        <p:spPr>
          <a:xfrm>
            <a:off x="9302629" y="73380"/>
            <a:ext cx="915636"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2011</a:t>
            </a:r>
            <a:endParaRPr b="0" i="0" sz="1400" u="none" cap="none" strike="noStrike">
              <a:solidFill>
                <a:srgbClr val="000000"/>
              </a:solidFill>
              <a:latin typeface="Arial"/>
              <a:ea typeface="Arial"/>
              <a:cs typeface="Arial"/>
              <a:sym typeface="Arial"/>
            </a:endParaRPr>
          </a:p>
        </p:txBody>
      </p:sp>
      <p:sp>
        <p:nvSpPr>
          <p:cNvPr id="247" name="Google Shape;247;p9"/>
          <p:cNvSpPr/>
          <p:nvPr/>
        </p:nvSpPr>
        <p:spPr>
          <a:xfrm>
            <a:off x="10000929" y="184549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sp>
        <p:nvSpPr>
          <p:cNvPr id="248" name="Google Shape;248;p9"/>
          <p:cNvSpPr/>
          <p:nvPr/>
        </p:nvSpPr>
        <p:spPr>
          <a:xfrm>
            <a:off x="10302519" y="204520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sp>
        <p:nvSpPr>
          <p:cNvPr id="249" name="Google Shape;249;p9"/>
          <p:cNvSpPr/>
          <p:nvPr/>
        </p:nvSpPr>
        <p:spPr>
          <a:xfrm>
            <a:off x="10908640" y="2390531"/>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cxnSp>
        <p:nvCxnSpPr>
          <p:cNvPr id="250" name="Google Shape;250;p9"/>
          <p:cNvCxnSpPr/>
          <p:nvPr/>
        </p:nvCxnSpPr>
        <p:spPr>
          <a:xfrm flipH="1" rot="10800000">
            <a:off x="9631723" y="2873695"/>
            <a:ext cx="2250" cy="822960"/>
          </a:xfrm>
          <a:prstGeom prst="straightConnector1">
            <a:avLst/>
          </a:prstGeom>
          <a:noFill/>
          <a:ln cap="flat" cmpd="sng" w="19050">
            <a:solidFill>
              <a:srgbClr val="D8D8D8"/>
            </a:solidFill>
            <a:prstDash val="solid"/>
            <a:miter lim="800000"/>
            <a:headEnd len="sm" w="sm" type="none"/>
            <a:tailEnd len="sm" w="sm" type="none"/>
          </a:ln>
        </p:spPr>
      </p:cxnSp>
      <p:sp>
        <p:nvSpPr>
          <p:cNvPr id="251" name="Google Shape;251;p9"/>
          <p:cNvSpPr/>
          <p:nvPr/>
        </p:nvSpPr>
        <p:spPr>
          <a:xfrm>
            <a:off x="9537681" y="3679404"/>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52" name="Google Shape;252;p9"/>
          <p:cNvSpPr/>
          <p:nvPr/>
        </p:nvSpPr>
        <p:spPr>
          <a:xfrm>
            <a:off x="9669007" y="2311665"/>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53" name="Google Shape;253;p9"/>
          <p:cNvSpPr/>
          <p:nvPr/>
        </p:nvSpPr>
        <p:spPr>
          <a:xfrm>
            <a:off x="9850148" y="3193654"/>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254" name="Google Shape;254;p9"/>
          <p:cNvCxnSpPr/>
          <p:nvPr/>
        </p:nvCxnSpPr>
        <p:spPr>
          <a:xfrm rot="10800000">
            <a:off x="9941588" y="2866360"/>
            <a:ext cx="0" cy="345654"/>
          </a:xfrm>
          <a:prstGeom prst="straightConnector1">
            <a:avLst/>
          </a:prstGeom>
          <a:noFill/>
          <a:ln cap="flat" cmpd="sng" w="19050">
            <a:solidFill>
              <a:srgbClr val="D8D8D8"/>
            </a:solidFill>
            <a:prstDash val="solid"/>
            <a:miter lim="800000"/>
            <a:headEnd len="sm" w="sm" type="none"/>
            <a:tailEnd len="sm" w="sm" type="none"/>
          </a:ln>
        </p:spPr>
      </p:cxnSp>
      <p:sp>
        <p:nvSpPr>
          <p:cNvPr id="255" name="Google Shape;255;p9"/>
          <p:cNvSpPr/>
          <p:nvPr/>
        </p:nvSpPr>
        <p:spPr>
          <a:xfrm>
            <a:off x="10302519" y="3047366"/>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256" name="Google Shape;256;p9"/>
          <p:cNvCxnSpPr/>
          <p:nvPr/>
        </p:nvCxnSpPr>
        <p:spPr>
          <a:xfrm rot="10800000">
            <a:off x="10393959" y="2868057"/>
            <a:ext cx="0" cy="182880"/>
          </a:xfrm>
          <a:prstGeom prst="straightConnector1">
            <a:avLst/>
          </a:prstGeom>
          <a:noFill/>
          <a:ln cap="flat" cmpd="sng" w="19050">
            <a:solidFill>
              <a:srgbClr val="D8D8D8"/>
            </a:solidFill>
            <a:prstDash val="solid"/>
            <a:miter lim="800000"/>
            <a:headEnd len="sm" w="sm" type="none"/>
            <a:tailEnd len="sm" w="sm" type="none"/>
          </a:ln>
        </p:spPr>
      </p:cxnSp>
      <p:cxnSp>
        <p:nvCxnSpPr>
          <p:cNvPr id="257" name="Google Shape;257;p9"/>
          <p:cNvCxnSpPr>
            <a:endCxn id="258" idx="0"/>
          </p:cNvCxnSpPr>
          <p:nvPr/>
        </p:nvCxnSpPr>
        <p:spPr>
          <a:xfrm>
            <a:off x="10249143" y="2864718"/>
            <a:ext cx="0" cy="2414700"/>
          </a:xfrm>
          <a:prstGeom prst="straightConnector1">
            <a:avLst/>
          </a:prstGeom>
          <a:noFill/>
          <a:ln cap="flat" cmpd="sng" w="19050">
            <a:solidFill>
              <a:srgbClr val="D8D8D8"/>
            </a:solidFill>
            <a:prstDash val="solid"/>
            <a:miter lim="800000"/>
            <a:headEnd len="sm" w="sm" type="none"/>
            <a:tailEnd len="sm" w="sm" type="none"/>
          </a:ln>
        </p:spPr>
      </p:cxnSp>
      <p:sp>
        <p:nvSpPr>
          <p:cNvPr id="258" name="Google Shape;258;p9"/>
          <p:cNvSpPr/>
          <p:nvPr/>
        </p:nvSpPr>
        <p:spPr>
          <a:xfrm>
            <a:off x="9700503" y="5279418"/>
            <a:ext cx="1097280" cy="10972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23F4F"/>
                </a:solidFill>
                <a:latin typeface="Calibri"/>
                <a:ea typeface="Calibri"/>
                <a:cs typeface="Calibri"/>
                <a:sym typeface="Calibri"/>
              </a:rPr>
              <a:t>Oxford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23F4F"/>
                </a:solidFill>
                <a:latin typeface="Calibri"/>
                <a:ea typeface="Calibri"/>
                <a:cs typeface="Calibri"/>
                <a:sym typeface="Calibri"/>
              </a:rPr>
              <a:t>Nanopore</a:t>
            </a:r>
            <a:endParaRPr b="0" i="0" sz="1400" u="none" cap="none" strike="noStrike">
              <a:solidFill>
                <a:srgbClr val="000000"/>
              </a:solidFill>
              <a:latin typeface="Arial"/>
              <a:ea typeface="Arial"/>
              <a:cs typeface="Arial"/>
              <a:sym typeface="Arial"/>
            </a:endParaRPr>
          </a:p>
        </p:txBody>
      </p:sp>
      <p:sp>
        <p:nvSpPr>
          <p:cNvPr id="259" name="Google Shape;259;p9"/>
          <p:cNvSpPr/>
          <p:nvPr/>
        </p:nvSpPr>
        <p:spPr>
          <a:xfrm>
            <a:off x="9806439" y="6345159"/>
            <a:ext cx="915636"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DF2"/>
                </a:solidFill>
                <a:latin typeface="Calibri"/>
                <a:ea typeface="Calibri"/>
                <a:cs typeface="Calibri"/>
                <a:sym typeface="Calibri"/>
              </a:rPr>
              <a:t>2014</a:t>
            </a:r>
            <a:endParaRPr b="0" i="0" sz="1400" u="none" cap="none" strike="noStrike">
              <a:solidFill>
                <a:srgbClr val="000000"/>
              </a:solidFill>
              <a:latin typeface="Arial"/>
              <a:ea typeface="Arial"/>
              <a:cs typeface="Arial"/>
              <a:sym typeface="Arial"/>
            </a:endParaRPr>
          </a:p>
        </p:txBody>
      </p:sp>
      <p:sp>
        <p:nvSpPr>
          <p:cNvPr id="260" name="Google Shape;260;p9"/>
          <p:cNvSpPr/>
          <p:nvPr/>
        </p:nvSpPr>
        <p:spPr>
          <a:xfrm>
            <a:off x="10607805" y="4985093"/>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261" name="Google Shape;261;p9"/>
          <p:cNvCxnSpPr/>
          <p:nvPr/>
        </p:nvCxnSpPr>
        <p:spPr>
          <a:xfrm rot="10800000">
            <a:off x="10699245" y="2879150"/>
            <a:ext cx="0" cy="2103120"/>
          </a:xfrm>
          <a:prstGeom prst="straightConnector1">
            <a:avLst/>
          </a:prstGeom>
          <a:noFill/>
          <a:ln cap="flat" cmpd="sng" w="19050">
            <a:solidFill>
              <a:srgbClr val="D8D8D8"/>
            </a:solidFill>
            <a:prstDash val="solid"/>
            <a:miter lim="800000"/>
            <a:headEnd len="sm" w="sm" type="none"/>
            <a:tailEnd len="sm" w="sm" type="none"/>
          </a:ln>
        </p:spPr>
      </p:cxnSp>
      <p:cxnSp>
        <p:nvCxnSpPr>
          <p:cNvPr id="262" name="Google Shape;262;p9"/>
          <p:cNvCxnSpPr/>
          <p:nvPr/>
        </p:nvCxnSpPr>
        <p:spPr>
          <a:xfrm rot="10800000">
            <a:off x="10852206" y="2875684"/>
            <a:ext cx="0" cy="1737360"/>
          </a:xfrm>
          <a:prstGeom prst="straightConnector1">
            <a:avLst/>
          </a:prstGeom>
          <a:noFill/>
          <a:ln cap="flat" cmpd="sng" w="19050">
            <a:solidFill>
              <a:srgbClr val="D8D8D8"/>
            </a:solidFill>
            <a:prstDash val="solid"/>
            <a:miter lim="800000"/>
            <a:headEnd len="sm" w="sm" type="none"/>
            <a:tailEnd len="sm" w="sm" type="none"/>
          </a:ln>
        </p:spPr>
      </p:cxnSp>
      <p:sp>
        <p:nvSpPr>
          <p:cNvPr id="263" name="Google Shape;263;p9"/>
          <p:cNvSpPr/>
          <p:nvPr/>
        </p:nvSpPr>
        <p:spPr>
          <a:xfrm>
            <a:off x="10760766" y="4590407"/>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64" name="Google Shape;264;p9"/>
          <p:cNvSpPr/>
          <p:nvPr/>
        </p:nvSpPr>
        <p:spPr>
          <a:xfrm>
            <a:off x="10908565" y="4245004"/>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265" name="Google Shape;265;p9"/>
          <p:cNvCxnSpPr/>
          <p:nvPr/>
        </p:nvCxnSpPr>
        <p:spPr>
          <a:xfrm rot="10800000">
            <a:off x="11000954" y="2873703"/>
            <a:ext cx="0" cy="1371600"/>
          </a:xfrm>
          <a:prstGeom prst="straightConnector1">
            <a:avLst/>
          </a:prstGeom>
          <a:noFill/>
          <a:ln cap="flat" cmpd="sng" w="19050">
            <a:solidFill>
              <a:srgbClr val="D8D8D8"/>
            </a:solidFill>
            <a:prstDash val="solid"/>
            <a:miter lim="800000"/>
            <a:headEnd len="sm" w="sm" type="none"/>
            <a:tailEnd len="sm" w="sm" type="none"/>
          </a:ln>
        </p:spPr>
      </p:cxnSp>
      <p:sp>
        <p:nvSpPr>
          <p:cNvPr id="266" name="Google Shape;266;p9"/>
          <p:cNvSpPr/>
          <p:nvPr/>
        </p:nvSpPr>
        <p:spPr>
          <a:xfrm>
            <a:off x="10000929" y="2515868"/>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C00000"/>
              </a:solidFill>
              <a:latin typeface="Calibri"/>
              <a:ea typeface="Calibri"/>
              <a:cs typeface="Calibri"/>
              <a:sym typeface="Calibri"/>
            </a:endParaRPr>
          </a:p>
        </p:txBody>
      </p:sp>
      <p:sp>
        <p:nvSpPr>
          <p:cNvPr id="267" name="Google Shape;267;p9"/>
          <p:cNvSpPr/>
          <p:nvPr/>
        </p:nvSpPr>
        <p:spPr>
          <a:xfrm>
            <a:off x="10607805" y="3355640"/>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68" name="Google Shape;268;p9"/>
          <p:cNvSpPr/>
          <p:nvPr/>
        </p:nvSpPr>
        <p:spPr>
          <a:xfrm>
            <a:off x="581891" y="374073"/>
            <a:ext cx="6664036" cy="180903"/>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9" name="Google Shape;269;p9"/>
          <p:cNvSpPr/>
          <p:nvPr/>
        </p:nvSpPr>
        <p:spPr>
          <a:xfrm>
            <a:off x="581891" y="8536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0" name="Google Shape;270;p9"/>
          <p:cNvSpPr/>
          <p:nvPr/>
        </p:nvSpPr>
        <p:spPr>
          <a:xfrm>
            <a:off x="734291" y="10060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1" name="Google Shape;271;p9"/>
          <p:cNvSpPr/>
          <p:nvPr/>
        </p:nvSpPr>
        <p:spPr>
          <a:xfrm>
            <a:off x="886691" y="11584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2" name="Google Shape;272;p9"/>
          <p:cNvSpPr/>
          <p:nvPr/>
        </p:nvSpPr>
        <p:spPr>
          <a:xfrm>
            <a:off x="1039091" y="13108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3" name="Google Shape;273;p9"/>
          <p:cNvSpPr/>
          <p:nvPr/>
        </p:nvSpPr>
        <p:spPr>
          <a:xfrm>
            <a:off x="1191491" y="14632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4" name="Google Shape;274;p9"/>
          <p:cNvSpPr/>
          <p:nvPr/>
        </p:nvSpPr>
        <p:spPr>
          <a:xfrm>
            <a:off x="1343891" y="16156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5" name="Google Shape;275;p9"/>
          <p:cNvSpPr/>
          <p:nvPr/>
        </p:nvSpPr>
        <p:spPr>
          <a:xfrm>
            <a:off x="1496291" y="17680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6" name="Google Shape;276;p9"/>
          <p:cNvSpPr/>
          <p:nvPr/>
        </p:nvSpPr>
        <p:spPr>
          <a:xfrm>
            <a:off x="1648691" y="19204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7" name="Google Shape;277;p9"/>
          <p:cNvSpPr/>
          <p:nvPr/>
        </p:nvSpPr>
        <p:spPr>
          <a:xfrm>
            <a:off x="1801091" y="20728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8" name="Google Shape;278;p9"/>
          <p:cNvSpPr/>
          <p:nvPr/>
        </p:nvSpPr>
        <p:spPr>
          <a:xfrm>
            <a:off x="1953491" y="22252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9" name="Google Shape;279;p9"/>
          <p:cNvSpPr/>
          <p:nvPr/>
        </p:nvSpPr>
        <p:spPr>
          <a:xfrm>
            <a:off x="2105891" y="23776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0" name="Google Shape;280;p9"/>
          <p:cNvSpPr/>
          <p:nvPr/>
        </p:nvSpPr>
        <p:spPr>
          <a:xfrm>
            <a:off x="2258291" y="25300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1" name="Google Shape;281;p9"/>
          <p:cNvSpPr/>
          <p:nvPr/>
        </p:nvSpPr>
        <p:spPr>
          <a:xfrm>
            <a:off x="2410691" y="26824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2" name="Google Shape;282;p9"/>
          <p:cNvSpPr/>
          <p:nvPr/>
        </p:nvSpPr>
        <p:spPr>
          <a:xfrm>
            <a:off x="1884001" y="8536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3" name="Google Shape;283;p9"/>
          <p:cNvSpPr/>
          <p:nvPr/>
        </p:nvSpPr>
        <p:spPr>
          <a:xfrm>
            <a:off x="2036401" y="10060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4" name="Google Shape;284;p9"/>
          <p:cNvSpPr/>
          <p:nvPr/>
        </p:nvSpPr>
        <p:spPr>
          <a:xfrm>
            <a:off x="2188801" y="11584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5" name="Google Shape;285;p9"/>
          <p:cNvSpPr/>
          <p:nvPr/>
        </p:nvSpPr>
        <p:spPr>
          <a:xfrm>
            <a:off x="2341201" y="13108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6" name="Google Shape;286;p9"/>
          <p:cNvSpPr/>
          <p:nvPr/>
        </p:nvSpPr>
        <p:spPr>
          <a:xfrm>
            <a:off x="2493601" y="14632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7" name="Google Shape;287;p9"/>
          <p:cNvSpPr/>
          <p:nvPr/>
        </p:nvSpPr>
        <p:spPr>
          <a:xfrm>
            <a:off x="2646001" y="16156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8" name="Google Shape;288;p9"/>
          <p:cNvSpPr/>
          <p:nvPr/>
        </p:nvSpPr>
        <p:spPr>
          <a:xfrm>
            <a:off x="2798401" y="17680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9" name="Google Shape;289;p9"/>
          <p:cNvSpPr/>
          <p:nvPr/>
        </p:nvSpPr>
        <p:spPr>
          <a:xfrm>
            <a:off x="2950801" y="19204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0" name="Google Shape;290;p9"/>
          <p:cNvSpPr/>
          <p:nvPr/>
        </p:nvSpPr>
        <p:spPr>
          <a:xfrm>
            <a:off x="3103201" y="20728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1" name="Google Shape;291;p9"/>
          <p:cNvSpPr/>
          <p:nvPr/>
        </p:nvSpPr>
        <p:spPr>
          <a:xfrm>
            <a:off x="3255601" y="22252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2" name="Google Shape;292;p9"/>
          <p:cNvSpPr/>
          <p:nvPr/>
        </p:nvSpPr>
        <p:spPr>
          <a:xfrm>
            <a:off x="3408001" y="23776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3" name="Google Shape;293;p9"/>
          <p:cNvSpPr/>
          <p:nvPr/>
        </p:nvSpPr>
        <p:spPr>
          <a:xfrm>
            <a:off x="3560401" y="25300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4" name="Google Shape;294;p9"/>
          <p:cNvSpPr/>
          <p:nvPr/>
        </p:nvSpPr>
        <p:spPr>
          <a:xfrm>
            <a:off x="3712801" y="26824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5" name="Google Shape;295;p9"/>
          <p:cNvSpPr/>
          <p:nvPr/>
        </p:nvSpPr>
        <p:spPr>
          <a:xfrm>
            <a:off x="3865201" y="28348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6" name="Google Shape;296;p9"/>
          <p:cNvSpPr/>
          <p:nvPr/>
        </p:nvSpPr>
        <p:spPr>
          <a:xfrm>
            <a:off x="3088469" y="8536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7" name="Google Shape;297;p9"/>
          <p:cNvSpPr/>
          <p:nvPr/>
        </p:nvSpPr>
        <p:spPr>
          <a:xfrm>
            <a:off x="3240869" y="10060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8" name="Google Shape;298;p9"/>
          <p:cNvSpPr/>
          <p:nvPr/>
        </p:nvSpPr>
        <p:spPr>
          <a:xfrm>
            <a:off x="3393269" y="11584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9" name="Google Shape;299;p9"/>
          <p:cNvSpPr/>
          <p:nvPr/>
        </p:nvSpPr>
        <p:spPr>
          <a:xfrm>
            <a:off x="3545669" y="13108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0" name="Google Shape;300;p9"/>
          <p:cNvSpPr/>
          <p:nvPr/>
        </p:nvSpPr>
        <p:spPr>
          <a:xfrm>
            <a:off x="3698069" y="14632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1" name="Google Shape;301;p9"/>
          <p:cNvSpPr/>
          <p:nvPr/>
        </p:nvSpPr>
        <p:spPr>
          <a:xfrm>
            <a:off x="3850469" y="16156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2" name="Google Shape;302;p9"/>
          <p:cNvSpPr/>
          <p:nvPr/>
        </p:nvSpPr>
        <p:spPr>
          <a:xfrm>
            <a:off x="4002869" y="176806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3" name="Google Shape;303;p9"/>
          <p:cNvSpPr/>
          <p:nvPr/>
        </p:nvSpPr>
        <p:spPr>
          <a:xfrm>
            <a:off x="4253511" y="8384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4" name="Google Shape;304;p9"/>
          <p:cNvSpPr/>
          <p:nvPr/>
        </p:nvSpPr>
        <p:spPr>
          <a:xfrm>
            <a:off x="4405911" y="9908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5" name="Google Shape;305;p9"/>
          <p:cNvSpPr/>
          <p:nvPr/>
        </p:nvSpPr>
        <p:spPr>
          <a:xfrm>
            <a:off x="4558311" y="11432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6" name="Google Shape;306;p9"/>
          <p:cNvSpPr/>
          <p:nvPr/>
        </p:nvSpPr>
        <p:spPr>
          <a:xfrm>
            <a:off x="4710711" y="12956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7" name="Google Shape;307;p9"/>
          <p:cNvSpPr/>
          <p:nvPr/>
        </p:nvSpPr>
        <p:spPr>
          <a:xfrm>
            <a:off x="4863111" y="14480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8" name="Google Shape;308;p9"/>
          <p:cNvSpPr/>
          <p:nvPr/>
        </p:nvSpPr>
        <p:spPr>
          <a:xfrm>
            <a:off x="5457979" y="8384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9" name="Google Shape;309;p9"/>
          <p:cNvSpPr/>
          <p:nvPr/>
        </p:nvSpPr>
        <p:spPr>
          <a:xfrm>
            <a:off x="5610379" y="9908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0" name="Google Shape;310;p9"/>
          <p:cNvSpPr/>
          <p:nvPr/>
        </p:nvSpPr>
        <p:spPr>
          <a:xfrm>
            <a:off x="5762779" y="11432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1" name="Google Shape;311;p9"/>
          <p:cNvSpPr/>
          <p:nvPr/>
        </p:nvSpPr>
        <p:spPr>
          <a:xfrm>
            <a:off x="5915179" y="12956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2" name="Google Shape;312;p9"/>
          <p:cNvSpPr/>
          <p:nvPr/>
        </p:nvSpPr>
        <p:spPr>
          <a:xfrm>
            <a:off x="6067579" y="1448028"/>
            <a:ext cx="1005840" cy="91440"/>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3" name="Google Shape;313;p9"/>
          <p:cNvSpPr/>
          <p:nvPr/>
        </p:nvSpPr>
        <p:spPr>
          <a:xfrm>
            <a:off x="3865201" y="334990"/>
            <a:ext cx="69427" cy="2634043"/>
          </a:xfrm>
          <a:prstGeom prst="rect">
            <a:avLst/>
          </a:prstGeom>
          <a:no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4" name="Google Shape;314;p9"/>
          <p:cNvSpPr/>
          <p:nvPr/>
        </p:nvSpPr>
        <p:spPr>
          <a:xfrm>
            <a:off x="6817150" y="374074"/>
            <a:ext cx="60401" cy="1180634"/>
          </a:xfrm>
          <a:prstGeom prst="rect">
            <a:avLst/>
          </a:prstGeom>
          <a:no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5" name="Google Shape;315;p9"/>
          <p:cNvSpPr/>
          <p:nvPr/>
        </p:nvSpPr>
        <p:spPr>
          <a:xfrm>
            <a:off x="-1143217" y="5064656"/>
            <a:ext cx="6664036" cy="180903"/>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6" name="Google Shape;316;p9"/>
          <p:cNvSpPr/>
          <p:nvPr/>
        </p:nvSpPr>
        <p:spPr>
          <a:xfrm>
            <a:off x="5610379" y="4156781"/>
            <a:ext cx="6664036" cy="180903"/>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7" name="Google Shape;317;p9"/>
          <p:cNvSpPr/>
          <p:nvPr/>
        </p:nvSpPr>
        <p:spPr>
          <a:xfrm>
            <a:off x="3237400" y="4383750"/>
            <a:ext cx="6664036" cy="180903"/>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8" name="Google Shape;318;p9"/>
          <p:cNvSpPr/>
          <p:nvPr/>
        </p:nvSpPr>
        <p:spPr>
          <a:xfrm>
            <a:off x="61251" y="4610719"/>
            <a:ext cx="6664036" cy="180903"/>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9" name="Google Shape;319;p9"/>
          <p:cNvSpPr/>
          <p:nvPr/>
        </p:nvSpPr>
        <p:spPr>
          <a:xfrm>
            <a:off x="1471998" y="4837688"/>
            <a:ext cx="6664036" cy="180903"/>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par>
                                <p:cTn fill="hold" nodeType="with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par>
                                <p:cTn fill="hold" nodeType="with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500"/>
                                        <p:tgtEl>
                                          <p:spTgt spid="272"/>
                                        </p:tgtEl>
                                      </p:cBhvr>
                                    </p:animEffect>
                                  </p:childTnLst>
                                </p:cTn>
                              </p:par>
                              <p:par>
                                <p:cTn fill="hold" nodeType="with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par>
                                <p:cTn fill="hold" nodeType="with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500"/>
                                        <p:tgtEl>
                                          <p:spTgt spid="274"/>
                                        </p:tgtEl>
                                      </p:cBhvr>
                                    </p:animEffect>
                                  </p:childTnLst>
                                </p:cTn>
                              </p:par>
                              <p:par>
                                <p:cTn fill="hold" nodeType="with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par>
                                <p:cTn fill="hold" nodeType="with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par>
                                <p:cTn fill="hold" nodeType="with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par>
                                <p:cTn fill="hold" nodeType="with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par>
                                <p:cTn fill="hold" nodeType="with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par>
                                <p:cTn fill="hold" nodeType="with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par>
                                <p:cTn fill="hold" nodeType="with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par>
                                <p:cTn fill="hold" nodeType="with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par>
                                <p:cTn fill="hold" nodeType="with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par>
                                <p:cTn fill="hold" nodeType="with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500"/>
                                        <p:tgtEl>
                                          <p:spTgt spid="284"/>
                                        </p:tgtEl>
                                      </p:cBhvr>
                                    </p:animEffect>
                                  </p:childTnLst>
                                </p:cTn>
                              </p:par>
                              <p:par>
                                <p:cTn fill="hold" nodeType="with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par>
                                <p:cTn fill="hold" nodeType="with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par>
                                <p:cTn fill="hold" nodeType="with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par>
                                <p:cTn fill="hold" nodeType="with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500"/>
                                        <p:tgtEl>
                                          <p:spTgt spid="288"/>
                                        </p:tgtEl>
                                      </p:cBhvr>
                                    </p:animEffect>
                                  </p:childTnLst>
                                </p:cTn>
                              </p:par>
                              <p:par>
                                <p:cTn fill="hold" nodeType="with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500"/>
                                        <p:tgtEl>
                                          <p:spTgt spid="289"/>
                                        </p:tgtEl>
                                      </p:cBhvr>
                                    </p:animEffect>
                                  </p:childTnLst>
                                </p:cTn>
                              </p:par>
                              <p:par>
                                <p:cTn fill="hold" nodeType="with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par>
                                <p:cTn fill="hold" nodeType="with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par>
                                <p:cTn fill="hold" nodeType="with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par>
                                <p:cTn fill="hold" nodeType="with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par>
                                <p:cTn fill="hold" nodeType="with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par>
                                <p:cTn fill="hold" nodeType="with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par>
                                <p:cTn fill="hold" nodeType="with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par>
                                <p:cTn fill="hold" nodeType="with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par>
                                <p:cTn fill="hold" nodeType="with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par>
                                <p:cTn fill="hold" nodeType="with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par>
                                <p:cTn fill="hold" nodeType="with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par>
                                <p:cTn fill="hold" nodeType="with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par>
                                <p:cTn fill="hold" nodeType="with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par>
                                <p:cTn fill="hold" nodeType="with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par>
                                <p:cTn fill="hold" nodeType="with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par>
                                <p:cTn fill="hold" nodeType="with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par>
                                <p:cTn fill="hold" nodeType="with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par>
                                <p:cTn fill="hold" nodeType="with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par>
                                <p:cTn fill="hold" nodeType="with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par>
                                <p:cTn fill="hold" nodeType="with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500"/>
                                        <p:tgtEl>
                                          <p:spTgt spid="309"/>
                                        </p:tgtEl>
                                      </p:cBhvr>
                                    </p:animEffect>
                                  </p:childTnLst>
                                </p:cTn>
                              </p:par>
                              <p:par>
                                <p:cTn fill="hold" nodeType="with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500"/>
                                        <p:tgtEl>
                                          <p:spTgt spid="310"/>
                                        </p:tgtEl>
                                      </p:cBhvr>
                                    </p:animEffect>
                                  </p:childTnLst>
                                </p:cTn>
                              </p:par>
                              <p:par>
                                <p:cTn fill="hold" nodeType="with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par>
                                <p:cTn fill="hold" nodeType="with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500"/>
                                        <p:tgtEl>
                                          <p:spTgt spid="3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par>
                                <p:cTn fill="hold" nodeType="with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
                                        <p:tgtEl>
                                          <p:spTgt spid="317"/>
                                        </p:tgtEl>
                                      </p:cBhvr>
                                    </p:animEffect>
                                  </p:childTnLst>
                                </p:cTn>
                              </p:par>
                              <p:par>
                                <p:cTn fill="hold" nodeType="with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par>
                                <p:cTn fill="hold" nodeType="with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500"/>
                                        <p:tgtEl>
                                          <p:spTgt spid="319"/>
                                        </p:tgtEl>
                                      </p:cBhvr>
                                    </p:animEffect>
                                  </p:childTnLst>
                                </p:cTn>
                              </p:par>
                              <p:par>
                                <p:cTn fill="hold" nodeType="with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500"/>
                                        <p:tgtEl>
                                          <p:spTgt spid="3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DF2"/>
              </a:buClr>
              <a:buSzPts val="4400"/>
              <a:buFont typeface="Calibri"/>
              <a:buNone/>
            </a:pPr>
            <a:r>
              <a:rPr b="1" lang="en-US">
                <a:solidFill>
                  <a:srgbClr val="FFFDF2"/>
                </a:solidFill>
              </a:rPr>
              <a:t>Core Principles</a:t>
            </a:r>
            <a:endParaRPr/>
          </a:p>
        </p:txBody>
      </p:sp>
      <p:sp>
        <p:nvSpPr>
          <p:cNvPr id="325" name="Google Shape;325;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DF2"/>
              </a:buClr>
              <a:buSzPts val="2800"/>
              <a:buChar char="•"/>
            </a:pPr>
            <a:r>
              <a:rPr lang="en-US">
                <a:solidFill>
                  <a:srgbClr val="FFFDF2"/>
                </a:solidFill>
              </a:rPr>
              <a:t>Library preparation</a:t>
            </a:r>
            <a:endParaRPr/>
          </a:p>
          <a:p>
            <a:pPr indent="-228600" lvl="1" marL="685800" rtl="0" algn="l">
              <a:lnSpc>
                <a:spcPct val="90000"/>
              </a:lnSpc>
              <a:spcBef>
                <a:spcPts val="500"/>
              </a:spcBef>
              <a:spcAft>
                <a:spcPts val="0"/>
              </a:spcAft>
              <a:buClr>
                <a:srgbClr val="FFFDF2"/>
              </a:buClr>
              <a:buSzPts val="2400"/>
              <a:buChar char="•"/>
            </a:pPr>
            <a:r>
              <a:rPr lang="en-US">
                <a:solidFill>
                  <a:srgbClr val="FFFDF2"/>
                </a:solidFill>
              </a:rPr>
              <a:t>Fragmentation, addition of adapters, amplification, size selection</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DNA molecule isolation/fixation (more amplification)</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Release of some signal (light, fluorescence, electrical…)</a:t>
            </a:r>
            <a:endParaRPr/>
          </a:p>
          <a:p>
            <a:pPr indent="-228600" lvl="1" marL="685800" rtl="0" algn="l">
              <a:lnSpc>
                <a:spcPct val="90000"/>
              </a:lnSpc>
              <a:spcBef>
                <a:spcPts val="500"/>
              </a:spcBef>
              <a:spcAft>
                <a:spcPts val="0"/>
              </a:spcAft>
              <a:buClr>
                <a:srgbClr val="FFFDF2"/>
              </a:buClr>
              <a:buSzPts val="2400"/>
              <a:buChar char="•"/>
            </a:pPr>
            <a:r>
              <a:rPr lang="en-US">
                <a:solidFill>
                  <a:srgbClr val="FFFDF2"/>
                </a:solidFill>
              </a:rPr>
              <a:t>Some method of reporting in a controlled way the addition of nucleotides</a:t>
            </a:r>
            <a:endParaRPr/>
          </a:p>
          <a:p>
            <a:pPr indent="-228600" lvl="0" marL="228600" rtl="0" algn="l">
              <a:lnSpc>
                <a:spcPct val="90000"/>
              </a:lnSpc>
              <a:spcBef>
                <a:spcPts val="1000"/>
              </a:spcBef>
              <a:spcAft>
                <a:spcPts val="0"/>
              </a:spcAft>
              <a:buClr>
                <a:srgbClr val="FFFDF2"/>
              </a:buClr>
              <a:buSzPts val="2800"/>
              <a:buChar char="•"/>
            </a:pPr>
            <a:r>
              <a:rPr lang="en-US">
                <a:solidFill>
                  <a:srgbClr val="FFFDF2"/>
                </a:solidFill>
              </a:rPr>
              <a:t>Recording of signal in a massively parallel manner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0" st="0"/>
                                            </p:txEl>
                                          </p:spTgt>
                                        </p:tgtEl>
                                        <p:attrNameLst>
                                          <p:attrName>style.visibility</p:attrName>
                                        </p:attrNameLst>
                                      </p:cBhvr>
                                      <p:to>
                                        <p:strVal val="visible"/>
                                      </p:to>
                                    </p:set>
                                    <p:animEffect filter="fade" transition="in">
                                      <p:cBhvr>
                                        <p:cTn dur="500"/>
                                        <p:tgtEl>
                                          <p:spTgt spid="3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1" st="1"/>
                                            </p:txEl>
                                          </p:spTgt>
                                        </p:tgtEl>
                                        <p:attrNameLst>
                                          <p:attrName>style.visibility</p:attrName>
                                        </p:attrNameLst>
                                      </p:cBhvr>
                                      <p:to>
                                        <p:strVal val="visible"/>
                                      </p:to>
                                    </p:set>
                                    <p:animEffect filter="fade" transition="in">
                                      <p:cBhvr>
                                        <p:cTn dur="500"/>
                                        <p:tgtEl>
                                          <p:spTgt spid="3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2" st="2"/>
                                            </p:txEl>
                                          </p:spTgt>
                                        </p:tgtEl>
                                        <p:attrNameLst>
                                          <p:attrName>style.visibility</p:attrName>
                                        </p:attrNameLst>
                                      </p:cBhvr>
                                      <p:to>
                                        <p:strVal val="visible"/>
                                      </p:to>
                                    </p:set>
                                    <p:animEffect filter="fade" transition="in">
                                      <p:cBhvr>
                                        <p:cTn dur="500"/>
                                        <p:tgtEl>
                                          <p:spTgt spid="3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3" st="3"/>
                                            </p:txEl>
                                          </p:spTgt>
                                        </p:tgtEl>
                                        <p:attrNameLst>
                                          <p:attrName>style.visibility</p:attrName>
                                        </p:attrNameLst>
                                      </p:cBhvr>
                                      <p:to>
                                        <p:strVal val="visible"/>
                                      </p:to>
                                    </p:set>
                                    <p:animEffect filter="fade" transition="in">
                                      <p:cBhvr>
                                        <p:cTn dur="500"/>
                                        <p:tgtEl>
                                          <p:spTgt spid="32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4" st="4"/>
                                            </p:txEl>
                                          </p:spTgt>
                                        </p:tgtEl>
                                        <p:attrNameLst>
                                          <p:attrName>style.visibility</p:attrName>
                                        </p:attrNameLst>
                                      </p:cBhvr>
                                      <p:to>
                                        <p:strVal val="visible"/>
                                      </p:to>
                                    </p:set>
                                    <p:animEffect filter="fade" transition="in">
                                      <p:cBhvr>
                                        <p:cTn dur="500"/>
                                        <p:tgtEl>
                                          <p:spTgt spid="32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5" st="5"/>
                                            </p:txEl>
                                          </p:spTgt>
                                        </p:tgtEl>
                                        <p:attrNameLst>
                                          <p:attrName>style.visibility</p:attrName>
                                        </p:attrNameLst>
                                      </p:cBhvr>
                                      <p:to>
                                        <p:strVal val="visible"/>
                                      </p:to>
                                    </p:set>
                                    <p:animEffect filter="fade" transition="in">
                                      <p:cBhvr>
                                        <p:cTn dur="500"/>
                                        <p:tgtEl>
                                          <p:spTgt spid="325">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cxnSp>
        <p:nvCxnSpPr>
          <p:cNvPr id="331" name="Google Shape;331;p11"/>
          <p:cNvCxnSpPr/>
          <p:nvPr/>
        </p:nvCxnSpPr>
        <p:spPr>
          <a:xfrm>
            <a:off x="0" y="2870096"/>
            <a:ext cx="12192000" cy="0"/>
          </a:xfrm>
          <a:prstGeom prst="straightConnector1">
            <a:avLst/>
          </a:prstGeom>
          <a:noFill/>
          <a:ln cap="flat" cmpd="sng" w="38100">
            <a:solidFill>
              <a:srgbClr val="D8D8D8"/>
            </a:solidFill>
            <a:prstDash val="solid"/>
            <a:miter lim="800000"/>
            <a:headEnd len="sm" w="sm" type="none"/>
            <a:tailEnd len="sm" w="sm" type="none"/>
          </a:ln>
        </p:spPr>
      </p:cxnSp>
      <p:sp>
        <p:nvSpPr>
          <p:cNvPr id="332" name="Google Shape;332;p11"/>
          <p:cNvSpPr/>
          <p:nvPr/>
        </p:nvSpPr>
        <p:spPr>
          <a:xfrm>
            <a:off x="-1" y="0"/>
            <a:ext cx="663790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3" name="Google Shape;333;p11"/>
          <p:cNvSpPr txBox="1"/>
          <p:nvPr/>
        </p:nvSpPr>
        <p:spPr>
          <a:xfrm>
            <a:off x="-13252" y="365125"/>
            <a:ext cx="665116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23F4F"/>
              </a:buClr>
              <a:buSzPts val="4800"/>
              <a:buFont typeface="Calibri"/>
              <a:buNone/>
            </a:pPr>
            <a:r>
              <a:rPr b="1" i="0" lang="en-US" sz="4800" u="none" cap="none" strike="noStrike">
                <a:solidFill>
                  <a:srgbClr val="323F4F"/>
                </a:solidFill>
                <a:latin typeface="Calibri"/>
                <a:ea typeface="Calibri"/>
                <a:cs typeface="Calibri"/>
                <a:sym typeface="Calibri"/>
              </a:rPr>
              <a:t>NGS Flavors </a:t>
            </a:r>
            <a:r>
              <a:rPr b="1" i="0" lang="en-US" sz="2800" u="none" cap="none" strike="noStrike">
                <a:solidFill>
                  <a:srgbClr val="323F4F"/>
                </a:solidFill>
                <a:latin typeface="Calibri"/>
                <a:ea typeface="Calibri"/>
                <a:cs typeface="Calibri"/>
                <a:sym typeface="Calibri"/>
              </a:rPr>
              <a:t>- pyrosequencing</a:t>
            </a:r>
            <a:endParaRPr b="0" i="0" sz="1400" u="none" cap="none" strike="noStrike">
              <a:solidFill>
                <a:srgbClr val="000000"/>
              </a:solidFill>
              <a:latin typeface="Arial"/>
              <a:ea typeface="Arial"/>
              <a:cs typeface="Arial"/>
              <a:sym typeface="Arial"/>
            </a:endParaRPr>
          </a:p>
        </p:txBody>
      </p:sp>
      <p:sp>
        <p:nvSpPr>
          <p:cNvPr id="334" name="Google Shape;334;p11"/>
          <p:cNvSpPr/>
          <p:nvPr/>
        </p:nvSpPr>
        <p:spPr>
          <a:xfrm>
            <a:off x="8656450" y="3967376"/>
            <a:ext cx="1097280" cy="10972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Illumina/Solexa</a:t>
            </a:r>
            <a:endParaRPr b="1" i="0" sz="1800" u="none" cap="none" strike="noStrike">
              <a:solidFill>
                <a:srgbClr val="323F4F"/>
              </a:solidFill>
              <a:latin typeface="Calibri"/>
              <a:ea typeface="Calibri"/>
              <a:cs typeface="Calibri"/>
              <a:sym typeface="Calibri"/>
            </a:endParaRPr>
          </a:p>
        </p:txBody>
      </p:sp>
      <p:cxnSp>
        <p:nvCxnSpPr>
          <p:cNvPr id="335" name="Google Shape;335;p11"/>
          <p:cNvCxnSpPr/>
          <p:nvPr/>
        </p:nvCxnSpPr>
        <p:spPr>
          <a:xfrm flipH="1" rot="10800000">
            <a:off x="9005792" y="2884587"/>
            <a:ext cx="2250" cy="168892"/>
          </a:xfrm>
          <a:prstGeom prst="straightConnector1">
            <a:avLst/>
          </a:prstGeom>
          <a:noFill/>
          <a:ln cap="flat" cmpd="sng" w="19050">
            <a:solidFill>
              <a:srgbClr val="D8D8D8"/>
            </a:solidFill>
            <a:prstDash val="solid"/>
            <a:miter lim="800000"/>
            <a:headEnd len="sm" w="sm" type="none"/>
            <a:tailEnd len="sm" w="sm" type="none"/>
          </a:ln>
        </p:spPr>
      </p:cxnSp>
      <p:cxnSp>
        <p:nvCxnSpPr>
          <p:cNvPr id="336" name="Google Shape;336;p11"/>
          <p:cNvCxnSpPr/>
          <p:nvPr/>
        </p:nvCxnSpPr>
        <p:spPr>
          <a:xfrm flipH="1">
            <a:off x="9201869" y="2888143"/>
            <a:ext cx="6442" cy="1075375"/>
          </a:xfrm>
          <a:prstGeom prst="straightConnector1">
            <a:avLst/>
          </a:prstGeom>
          <a:noFill/>
          <a:ln cap="flat" cmpd="sng" w="19050">
            <a:solidFill>
              <a:srgbClr val="D8D8D8"/>
            </a:solidFill>
            <a:prstDash val="solid"/>
            <a:miter lim="800000"/>
            <a:headEnd len="sm" w="sm" type="none"/>
            <a:tailEnd len="sm" w="sm" type="none"/>
          </a:ln>
        </p:spPr>
      </p:cxnSp>
      <p:grpSp>
        <p:nvGrpSpPr>
          <p:cNvPr id="337" name="Google Shape;337;p11"/>
          <p:cNvGrpSpPr/>
          <p:nvPr/>
        </p:nvGrpSpPr>
        <p:grpSpPr>
          <a:xfrm>
            <a:off x="8295997" y="1477748"/>
            <a:ext cx="1097280" cy="1383362"/>
            <a:chOff x="8295997" y="1477748"/>
            <a:chExt cx="1097280" cy="1383362"/>
          </a:xfrm>
        </p:grpSpPr>
        <p:sp>
          <p:nvSpPr>
            <p:cNvPr id="338" name="Google Shape;338;p11"/>
            <p:cNvSpPr/>
            <p:nvPr/>
          </p:nvSpPr>
          <p:spPr>
            <a:xfrm>
              <a:off x="8295997" y="1477748"/>
              <a:ext cx="1097280" cy="10972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Roche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454</a:t>
              </a:r>
              <a:endParaRPr b="0" i="0" sz="1400" u="none" cap="none" strike="noStrike">
                <a:solidFill>
                  <a:srgbClr val="000000"/>
                </a:solidFill>
                <a:latin typeface="Arial"/>
                <a:ea typeface="Arial"/>
                <a:cs typeface="Arial"/>
                <a:sym typeface="Arial"/>
              </a:endParaRPr>
            </a:p>
          </p:txBody>
        </p:sp>
        <p:cxnSp>
          <p:nvCxnSpPr>
            <p:cNvPr id="339" name="Google Shape;339;p11"/>
            <p:cNvCxnSpPr/>
            <p:nvPr/>
          </p:nvCxnSpPr>
          <p:spPr>
            <a:xfrm rot="10800000">
              <a:off x="8844637" y="2575028"/>
              <a:ext cx="0" cy="286082"/>
            </a:xfrm>
            <a:prstGeom prst="straightConnector1">
              <a:avLst/>
            </a:prstGeom>
            <a:noFill/>
            <a:ln cap="flat" cmpd="sng" w="19050">
              <a:solidFill>
                <a:srgbClr val="D8D8D8"/>
              </a:solidFill>
              <a:prstDash val="solid"/>
              <a:miter lim="800000"/>
              <a:headEnd len="sm" w="sm" type="none"/>
              <a:tailEnd len="sm" w="sm" type="none"/>
            </a:ln>
          </p:spPr>
        </p:cxnSp>
      </p:grpSp>
      <p:sp>
        <p:nvSpPr>
          <p:cNvPr id="340" name="Google Shape;340;p11"/>
          <p:cNvSpPr/>
          <p:nvPr/>
        </p:nvSpPr>
        <p:spPr>
          <a:xfrm>
            <a:off x="8911750" y="3045094"/>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41" name="Google Shape;341;p11"/>
          <p:cNvSpPr/>
          <p:nvPr/>
        </p:nvSpPr>
        <p:spPr>
          <a:xfrm>
            <a:off x="9113650" y="3499085"/>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cxnSp>
        <p:nvCxnSpPr>
          <p:cNvPr id="342" name="Google Shape;342;p11"/>
          <p:cNvCxnSpPr/>
          <p:nvPr/>
        </p:nvCxnSpPr>
        <p:spPr>
          <a:xfrm rot="10800000">
            <a:off x="9760447" y="1489622"/>
            <a:ext cx="0" cy="1371600"/>
          </a:xfrm>
          <a:prstGeom prst="straightConnector1">
            <a:avLst/>
          </a:prstGeom>
          <a:noFill/>
          <a:ln cap="flat" cmpd="sng" w="19050">
            <a:solidFill>
              <a:srgbClr val="D8D8D8"/>
            </a:solidFill>
            <a:prstDash val="solid"/>
            <a:miter lim="800000"/>
            <a:headEnd len="sm" w="sm" type="none"/>
            <a:tailEnd len="sm" w="sm" type="none"/>
          </a:ln>
        </p:spPr>
      </p:cxnSp>
      <p:cxnSp>
        <p:nvCxnSpPr>
          <p:cNvPr id="343" name="Google Shape;343;p11"/>
          <p:cNvCxnSpPr/>
          <p:nvPr/>
        </p:nvCxnSpPr>
        <p:spPr>
          <a:xfrm rot="10800000">
            <a:off x="10092369" y="2030051"/>
            <a:ext cx="0" cy="822960"/>
          </a:xfrm>
          <a:prstGeom prst="straightConnector1">
            <a:avLst/>
          </a:prstGeom>
          <a:noFill/>
          <a:ln cap="flat" cmpd="sng" w="19050">
            <a:solidFill>
              <a:srgbClr val="D8D8D8"/>
            </a:solidFill>
            <a:prstDash val="solid"/>
            <a:miter lim="800000"/>
            <a:headEnd len="sm" w="sm" type="none"/>
            <a:tailEnd len="sm" w="sm" type="none"/>
          </a:ln>
        </p:spPr>
      </p:cxnSp>
      <p:cxnSp>
        <p:nvCxnSpPr>
          <p:cNvPr id="344" name="Google Shape;344;p11"/>
          <p:cNvCxnSpPr/>
          <p:nvPr/>
        </p:nvCxnSpPr>
        <p:spPr>
          <a:xfrm rot="10800000">
            <a:off x="10393959" y="2231449"/>
            <a:ext cx="0" cy="640080"/>
          </a:xfrm>
          <a:prstGeom prst="straightConnector1">
            <a:avLst/>
          </a:prstGeom>
          <a:noFill/>
          <a:ln cap="flat" cmpd="sng" w="19050">
            <a:solidFill>
              <a:srgbClr val="D8D8D8"/>
            </a:solidFill>
            <a:prstDash val="solid"/>
            <a:miter lim="800000"/>
            <a:headEnd len="sm" w="sm" type="none"/>
            <a:tailEnd len="sm" w="sm" type="none"/>
          </a:ln>
        </p:spPr>
      </p:cxnSp>
      <p:cxnSp>
        <p:nvCxnSpPr>
          <p:cNvPr id="345" name="Google Shape;345;p11"/>
          <p:cNvCxnSpPr/>
          <p:nvPr/>
        </p:nvCxnSpPr>
        <p:spPr>
          <a:xfrm rot="10800000">
            <a:off x="11000963" y="2579790"/>
            <a:ext cx="0" cy="274320"/>
          </a:xfrm>
          <a:prstGeom prst="straightConnector1">
            <a:avLst/>
          </a:prstGeom>
          <a:noFill/>
          <a:ln cap="flat" cmpd="sng" w="19050">
            <a:solidFill>
              <a:srgbClr val="D8D8D8"/>
            </a:solidFill>
            <a:prstDash val="solid"/>
            <a:miter lim="800000"/>
            <a:headEnd len="sm" w="sm" type="none"/>
            <a:tailEnd len="sm" w="sm" type="none"/>
          </a:ln>
        </p:spPr>
      </p:cxnSp>
      <p:sp>
        <p:nvSpPr>
          <p:cNvPr id="346" name="Google Shape;346;p11"/>
          <p:cNvSpPr/>
          <p:nvPr/>
        </p:nvSpPr>
        <p:spPr>
          <a:xfrm>
            <a:off x="9211807" y="554978"/>
            <a:ext cx="1097280" cy="10972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PacBio</a:t>
            </a:r>
            <a:endParaRPr b="0" i="0" sz="1400" u="none" cap="none" strike="noStrike">
              <a:solidFill>
                <a:srgbClr val="000000"/>
              </a:solidFill>
              <a:latin typeface="Arial"/>
              <a:ea typeface="Arial"/>
              <a:cs typeface="Arial"/>
              <a:sym typeface="Arial"/>
            </a:endParaRPr>
          </a:p>
        </p:txBody>
      </p:sp>
      <p:sp>
        <p:nvSpPr>
          <p:cNvPr id="347" name="Google Shape;347;p11"/>
          <p:cNvSpPr/>
          <p:nvPr/>
        </p:nvSpPr>
        <p:spPr>
          <a:xfrm>
            <a:off x="10000929" y="184549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sp>
        <p:nvSpPr>
          <p:cNvPr id="348" name="Google Shape;348;p11"/>
          <p:cNvSpPr/>
          <p:nvPr/>
        </p:nvSpPr>
        <p:spPr>
          <a:xfrm>
            <a:off x="10302519" y="204520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sp>
        <p:nvSpPr>
          <p:cNvPr id="349" name="Google Shape;349;p11"/>
          <p:cNvSpPr/>
          <p:nvPr/>
        </p:nvSpPr>
        <p:spPr>
          <a:xfrm>
            <a:off x="10908640" y="2390531"/>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cxnSp>
        <p:nvCxnSpPr>
          <p:cNvPr id="350" name="Google Shape;350;p11"/>
          <p:cNvCxnSpPr/>
          <p:nvPr/>
        </p:nvCxnSpPr>
        <p:spPr>
          <a:xfrm flipH="1" rot="10800000">
            <a:off x="9631723" y="2873695"/>
            <a:ext cx="2250" cy="822960"/>
          </a:xfrm>
          <a:prstGeom prst="straightConnector1">
            <a:avLst/>
          </a:prstGeom>
          <a:noFill/>
          <a:ln cap="flat" cmpd="sng" w="19050">
            <a:solidFill>
              <a:srgbClr val="D8D8D8"/>
            </a:solidFill>
            <a:prstDash val="solid"/>
            <a:miter lim="800000"/>
            <a:headEnd len="sm" w="sm" type="none"/>
            <a:tailEnd len="sm" w="sm" type="none"/>
          </a:ln>
        </p:spPr>
      </p:cxnSp>
      <p:sp>
        <p:nvSpPr>
          <p:cNvPr id="351" name="Google Shape;351;p11"/>
          <p:cNvSpPr/>
          <p:nvPr/>
        </p:nvSpPr>
        <p:spPr>
          <a:xfrm>
            <a:off x="9537681" y="3679404"/>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52" name="Google Shape;352;p11"/>
          <p:cNvSpPr/>
          <p:nvPr/>
        </p:nvSpPr>
        <p:spPr>
          <a:xfrm>
            <a:off x="9669007" y="2311665"/>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53" name="Google Shape;353;p11"/>
          <p:cNvSpPr/>
          <p:nvPr/>
        </p:nvSpPr>
        <p:spPr>
          <a:xfrm>
            <a:off x="9850148" y="3193654"/>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354" name="Google Shape;354;p11"/>
          <p:cNvCxnSpPr/>
          <p:nvPr/>
        </p:nvCxnSpPr>
        <p:spPr>
          <a:xfrm rot="10800000">
            <a:off x="9941588" y="2866360"/>
            <a:ext cx="0" cy="345654"/>
          </a:xfrm>
          <a:prstGeom prst="straightConnector1">
            <a:avLst/>
          </a:prstGeom>
          <a:noFill/>
          <a:ln cap="flat" cmpd="sng" w="19050">
            <a:solidFill>
              <a:srgbClr val="D8D8D8"/>
            </a:solidFill>
            <a:prstDash val="solid"/>
            <a:miter lim="800000"/>
            <a:headEnd len="sm" w="sm" type="none"/>
            <a:tailEnd len="sm" w="sm" type="none"/>
          </a:ln>
        </p:spPr>
      </p:cxnSp>
      <p:sp>
        <p:nvSpPr>
          <p:cNvPr id="355" name="Google Shape;355;p11"/>
          <p:cNvSpPr/>
          <p:nvPr/>
        </p:nvSpPr>
        <p:spPr>
          <a:xfrm>
            <a:off x="10302519" y="3047366"/>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356" name="Google Shape;356;p11"/>
          <p:cNvCxnSpPr/>
          <p:nvPr/>
        </p:nvCxnSpPr>
        <p:spPr>
          <a:xfrm rot="10800000">
            <a:off x="10393959" y="2868057"/>
            <a:ext cx="0" cy="182880"/>
          </a:xfrm>
          <a:prstGeom prst="straightConnector1">
            <a:avLst/>
          </a:prstGeom>
          <a:noFill/>
          <a:ln cap="flat" cmpd="sng" w="19050">
            <a:solidFill>
              <a:srgbClr val="D8D8D8"/>
            </a:solidFill>
            <a:prstDash val="solid"/>
            <a:miter lim="800000"/>
            <a:headEnd len="sm" w="sm" type="none"/>
            <a:tailEnd len="sm" w="sm" type="none"/>
          </a:ln>
        </p:spPr>
      </p:cxnSp>
      <p:cxnSp>
        <p:nvCxnSpPr>
          <p:cNvPr id="357" name="Google Shape;357;p11"/>
          <p:cNvCxnSpPr/>
          <p:nvPr/>
        </p:nvCxnSpPr>
        <p:spPr>
          <a:xfrm>
            <a:off x="10249143" y="2864825"/>
            <a:ext cx="0" cy="2743200"/>
          </a:xfrm>
          <a:prstGeom prst="straightConnector1">
            <a:avLst/>
          </a:prstGeom>
          <a:noFill/>
          <a:ln cap="flat" cmpd="sng" w="19050">
            <a:solidFill>
              <a:srgbClr val="D8D8D8"/>
            </a:solidFill>
            <a:prstDash val="solid"/>
            <a:miter lim="800000"/>
            <a:headEnd len="sm" w="sm" type="none"/>
            <a:tailEnd len="sm" w="sm" type="none"/>
          </a:ln>
        </p:spPr>
      </p:cxnSp>
      <p:sp>
        <p:nvSpPr>
          <p:cNvPr id="358" name="Google Shape;358;p11"/>
          <p:cNvSpPr/>
          <p:nvPr/>
        </p:nvSpPr>
        <p:spPr>
          <a:xfrm>
            <a:off x="9700503" y="5279418"/>
            <a:ext cx="1097280" cy="10972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23F4F"/>
                </a:solidFill>
                <a:latin typeface="Calibri"/>
                <a:ea typeface="Calibri"/>
                <a:cs typeface="Calibri"/>
                <a:sym typeface="Calibri"/>
              </a:rPr>
              <a:t>Oxford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23F4F"/>
                </a:solidFill>
                <a:latin typeface="Calibri"/>
                <a:ea typeface="Calibri"/>
                <a:cs typeface="Calibri"/>
                <a:sym typeface="Calibri"/>
              </a:rPr>
              <a:t>Nanopore</a:t>
            </a:r>
            <a:endParaRPr b="0" i="0" sz="1400" u="none" cap="none" strike="noStrike">
              <a:solidFill>
                <a:srgbClr val="000000"/>
              </a:solidFill>
              <a:latin typeface="Arial"/>
              <a:ea typeface="Arial"/>
              <a:cs typeface="Arial"/>
              <a:sym typeface="Arial"/>
            </a:endParaRPr>
          </a:p>
        </p:txBody>
      </p:sp>
      <p:sp>
        <p:nvSpPr>
          <p:cNvPr id="359" name="Google Shape;359;p11"/>
          <p:cNvSpPr/>
          <p:nvPr/>
        </p:nvSpPr>
        <p:spPr>
          <a:xfrm>
            <a:off x="10607805" y="4985093"/>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360" name="Google Shape;360;p11"/>
          <p:cNvCxnSpPr/>
          <p:nvPr/>
        </p:nvCxnSpPr>
        <p:spPr>
          <a:xfrm rot="10800000">
            <a:off x="10699245" y="2879150"/>
            <a:ext cx="0" cy="2103120"/>
          </a:xfrm>
          <a:prstGeom prst="straightConnector1">
            <a:avLst/>
          </a:prstGeom>
          <a:noFill/>
          <a:ln cap="flat" cmpd="sng" w="19050">
            <a:solidFill>
              <a:srgbClr val="D8D8D8"/>
            </a:solidFill>
            <a:prstDash val="solid"/>
            <a:miter lim="800000"/>
            <a:headEnd len="sm" w="sm" type="none"/>
            <a:tailEnd len="sm" w="sm" type="none"/>
          </a:ln>
        </p:spPr>
      </p:cxnSp>
      <p:cxnSp>
        <p:nvCxnSpPr>
          <p:cNvPr id="361" name="Google Shape;361;p11"/>
          <p:cNvCxnSpPr/>
          <p:nvPr/>
        </p:nvCxnSpPr>
        <p:spPr>
          <a:xfrm rot="10800000">
            <a:off x="10852206" y="2875684"/>
            <a:ext cx="0" cy="1737360"/>
          </a:xfrm>
          <a:prstGeom prst="straightConnector1">
            <a:avLst/>
          </a:prstGeom>
          <a:noFill/>
          <a:ln cap="flat" cmpd="sng" w="19050">
            <a:solidFill>
              <a:srgbClr val="D8D8D8"/>
            </a:solidFill>
            <a:prstDash val="solid"/>
            <a:miter lim="800000"/>
            <a:headEnd len="sm" w="sm" type="none"/>
            <a:tailEnd len="sm" w="sm" type="none"/>
          </a:ln>
        </p:spPr>
      </p:cxnSp>
      <p:sp>
        <p:nvSpPr>
          <p:cNvPr id="362" name="Google Shape;362;p11"/>
          <p:cNvSpPr/>
          <p:nvPr/>
        </p:nvSpPr>
        <p:spPr>
          <a:xfrm>
            <a:off x="10908565" y="4245004"/>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363" name="Google Shape;363;p11"/>
          <p:cNvCxnSpPr/>
          <p:nvPr/>
        </p:nvCxnSpPr>
        <p:spPr>
          <a:xfrm rot="10800000">
            <a:off x="11000954" y="2873703"/>
            <a:ext cx="0" cy="1371600"/>
          </a:xfrm>
          <a:prstGeom prst="straightConnector1">
            <a:avLst/>
          </a:prstGeom>
          <a:noFill/>
          <a:ln cap="flat" cmpd="sng" w="19050">
            <a:solidFill>
              <a:srgbClr val="D8D8D8"/>
            </a:solidFill>
            <a:prstDash val="solid"/>
            <a:miter lim="800000"/>
            <a:headEnd len="sm" w="sm" type="none"/>
            <a:tailEnd len="sm" w="sm" type="none"/>
          </a:ln>
        </p:spPr>
      </p:cxnSp>
      <p:sp>
        <p:nvSpPr>
          <p:cNvPr id="364" name="Google Shape;364;p11"/>
          <p:cNvSpPr/>
          <p:nvPr/>
        </p:nvSpPr>
        <p:spPr>
          <a:xfrm>
            <a:off x="10000929" y="2515868"/>
            <a:ext cx="182880" cy="182880"/>
          </a:xfrm>
          <a:prstGeom prst="ellipse">
            <a:avLst/>
          </a:prstGeom>
          <a:solidFill>
            <a:srgbClr val="43EDAE"/>
          </a:solidFill>
          <a:ln cap="flat" cmpd="sng" w="9525">
            <a:solidFill>
              <a:srgbClr val="D8D8D8"/>
            </a:solidFill>
            <a:prstDash val="solid"/>
            <a:miter lim="800000"/>
            <a:headEnd len="sm" w="sm" type="none"/>
            <a:tailEnd len="sm" w="sm" type="none"/>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C00000"/>
              </a:solidFill>
              <a:latin typeface="Calibri"/>
              <a:ea typeface="Calibri"/>
              <a:cs typeface="Calibri"/>
              <a:sym typeface="Calibri"/>
            </a:endParaRPr>
          </a:p>
        </p:txBody>
      </p:sp>
      <p:sp>
        <p:nvSpPr>
          <p:cNvPr id="365" name="Google Shape;365;p11"/>
          <p:cNvSpPr/>
          <p:nvPr/>
        </p:nvSpPr>
        <p:spPr>
          <a:xfrm>
            <a:off x="10607805" y="3355640"/>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366" name="Google Shape;366;p11"/>
          <p:cNvPicPr preferRelativeResize="0"/>
          <p:nvPr/>
        </p:nvPicPr>
        <p:blipFill rotWithShape="1">
          <a:blip r:embed="rId3">
            <a:alphaModFix/>
          </a:blip>
          <a:srcRect b="0" l="0" r="0" t="0"/>
          <a:stretch/>
        </p:blipFill>
        <p:spPr>
          <a:xfrm>
            <a:off x="253768" y="1783715"/>
            <a:ext cx="5880332" cy="4823055"/>
          </a:xfrm>
          <a:prstGeom prst="rect">
            <a:avLst/>
          </a:prstGeom>
          <a:noFill/>
          <a:ln>
            <a:noFill/>
          </a:ln>
        </p:spPr>
      </p:pic>
      <p:sp>
        <p:nvSpPr>
          <p:cNvPr id="367" name="Google Shape;367;p11"/>
          <p:cNvSpPr/>
          <p:nvPr/>
        </p:nvSpPr>
        <p:spPr>
          <a:xfrm>
            <a:off x="10760766" y="4590407"/>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68" name="Google Shape;368;p11"/>
          <p:cNvSpPr txBox="1"/>
          <p:nvPr/>
        </p:nvSpPr>
        <p:spPr>
          <a:xfrm>
            <a:off x="6623174" y="6458092"/>
            <a:ext cx="396397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4 hours, 200-300bp reads, 20 – 30 Mb/h</a:t>
            </a:r>
            <a:endParaRPr b="0" i="0" sz="1400" u="none" cap="none" strike="noStrike">
              <a:solidFill>
                <a:srgbClr val="000000"/>
              </a:solidFill>
              <a:latin typeface="Arial"/>
              <a:ea typeface="Arial"/>
              <a:cs typeface="Arial"/>
              <a:sym typeface="Arial"/>
            </a:endParaRPr>
          </a:p>
        </p:txBody>
      </p:sp>
      <p:pic>
        <p:nvPicPr>
          <p:cNvPr id="369" name="Google Shape;369;p11"/>
          <p:cNvPicPr preferRelativeResize="0"/>
          <p:nvPr/>
        </p:nvPicPr>
        <p:blipFill rotWithShape="1">
          <a:blip r:embed="rId4">
            <a:alphaModFix/>
          </a:blip>
          <a:srcRect b="0" l="0" r="0" t="0"/>
          <a:stretch/>
        </p:blipFill>
        <p:spPr>
          <a:xfrm>
            <a:off x="6708690" y="5192641"/>
            <a:ext cx="1434378" cy="1195315"/>
          </a:xfrm>
          <a:prstGeom prst="rect">
            <a:avLst/>
          </a:prstGeom>
          <a:noFill/>
          <a:ln>
            <a:noFill/>
          </a:ln>
        </p:spPr>
      </p:pic>
      <p:pic>
        <p:nvPicPr>
          <p:cNvPr id="370" name="Google Shape;370;p11"/>
          <p:cNvPicPr preferRelativeResize="0"/>
          <p:nvPr/>
        </p:nvPicPr>
        <p:blipFill rotWithShape="1">
          <a:blip r:embed="rId5">
            <a:alphaModFix/>
          </a:blip>
          <a:srcRect b="0" l="0" r="0" t="0"/>
          <a:stretch/>
        </p:blipFill>
        <p:spPr>
          <a:xfrm rot="3668443">
            <a:off x="8096826" y="4937946"/>
            <a:ext cx="1213329" cy="12155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500"/>
                                        <p:tgtEl>
                                          <p:spTgt spid="340"/>
                                        </p:tgtEl>
                                      </p:cBhvr>
                                    </p:animEffect>
                                    <p:set>
                                      <p:cBhvr>
                                        <p:cTn dur="1" fill="hold">
                                          <p:stCondLst>
                                            <p:cond delay="500"/>
                                          </p:stCondLst>
                                        </p:cTn>
                                        <p:tgtEl>
                                          <p:spTgt spid="34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35"/>
                                        </p:tgtEl>
                                      </p:cBhvr>
                                    </p:animEffect>
                                    <p:set>
                                      <p:cBhvr>
                                        <p:cTn dur="1" fill="hold">
                                          <p:stCondLst>
                                            <p:cond delay="500"/>
                                          </p:stCondLst>
                                        </p:cTn>
                                        <p:tgtEl>
                                          <p:spTgt spid="33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41"/>
                                        </p:tgtEl>
                                      </p:cBhvr>
                                    </p:animEffect>
                                    <p:set>
                                      <p:cBhvr>
                                        <p:cTn dur="1" fill="hold">
                                          <p:stCondLst>
                                            <p:cond delay="500"/>
                                          </p:stCondLst>
                                        </p:cTn>
                                        <p:tgtEl>
                                          <p:spTgt spid="34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64"/>
                                        </p:tgtEl>
                                      </p:cBhvr>
                                    </p:animEffect>
                                    <p:set>
                                      <p:cBhvr>
                                        <p:cTn dur="1" fill="hold">
                                          <p:stCondLst>
                                            <p:cond delay="500"/>
                                          </p:stCondLst>
                                        </p:cTn>
                                        <p:tgtEl>
                                          <p:spTgt spid="3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500"/>
                                        <p:tgtEl>
                                          <p:spTgt spid="369"/>
                                        </p:tgtEl>
                                      </p:cBhvr>
                                    </p:animEffect>
                                  </p:childTnLst>
                                </p:cTn>
                              </p:par>
                              <p:par>
                                <p:cTn fill="hold" nodeType="with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cxnSp>
        <p:nvCxnSpPr>
          <p:cNvPr id="375" name="Google Shape;375;p12"/>
          <p:cNvCxnSpPr/>
          <p:nvPr/>
        </p:nvCxnSpPr>
        <p:spPr>
          <a:xfrm>
            <a:off x="0" y="2870096"/>
            <a:ext cx="12192000" cy="0"/>
          </a:xfrm>
          <a:prstGeom prst="straightConnector1">
            <a:avLst/>
          </a:prstGeom>
          <a:noFill/>
          <a:ln cap="flat" cmpd="sng" w="38100">
            <a:solidFill>
              <a:srgbClr val="D8D8D8"/>
            </a:solidFill>
            <a:prstDash val="solid"/>
            <a:miter lim="800000"/>
            <a:headEnd len="sm" w="sm" type="none"/>
            <a:tailEnd len="sm" w="sm" type="none"/>
          </a:ln>
        </p:spPr>
      </p:cxnSp>
      <p:sp>
        <p:nvSpPr>
          <p:cNvPr id="376" name="Google Shape;376;p12"/>
          <p:cNvSpPr/>
          <p:nvPr/>
        </p:nvSpPr>
        <p:spPr>
          <a:xfrm>
            <a:off x="-1" y="0"/>
            <a:ext cx="663790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7" name="Google Shape;377;p12"/>
          <p:cNvSpPr txBox="1"/>
          <p:nvPr/>
        </p:nvSpPr>
        <p:spPr>
          <a:xfrm>
            <a:off x="-13252" y="365125"/>
            <a:ext cx="665116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23F4F"/>
              </a:buClr>
              <a:buSzPts val="4800"/>
              <a:buFont typeface="Calibri"/>
              <a:buNone/>
            </a:pPr>
            <a:r>
              <a:rPr b="1" i="0" lang="en-US" sz="4800" u="none" cap="none" strike="noStrike">
                <a:solidFill>
                  <a:srgbClr val="323F4F"/>
                </a:solidFill>
                <a:latin typeface="Calibri"/>
                <a:ea typeface="Calibri"/>
                <a:cs typeface="Calibri"/>
                <a:sym typeface="Calibri"/>
              </a:rPr>
              <a:t>NGS Flavors </a:t>
            </a:r>
            <a:r>
              <a:rPr b="1" i="0" lang="en-US" sz="2800" u="none" cap="none" strike="noStrike">
                <a:solidFill>
                  <a:srgbClr val="323F4F"/>
                </a:solidFill>
                <a:latin typeface="Calibri"/>
                <a:ea typeface="Calibri"/>
                <a:cs typeface="Calibri"/>
                <a:sym typeface="Calibri"/>
              </a:rPr>
              <a:t>- bridge amplification</a:t>
            </a:r>
            <a:endParaRPr b="0" i="0" sz="1400" u="none" cap="none" strike="noStrike">
              <a:solidFill>
                <a:srgbClr val="000000"/>
              </a:solidFill>
              <a:latin typeface="Arial"/>
              <a:ea typeface="Arial"/>
              <a:cs typeface="Arial"/>
              <a:sym typeface="Arial"/>
            </a:endParaRPr>
          </a:p>
        </p:txBody>
      </p:sp>
      <p:pic>
        <p:nvPicPr>
          <p:cNvPr id="378" name="Google Shape;378;p12"/>
          <p:cNvPicPr preferRelativeResize="0"/>
          <p:nvPr/>
        </p:nvPicPr>
        <p:blipFill rotWithShape="1">
          <a:blip r:embed="rId3">
            <a:alphaModFix/>
          </a:blip>
          <a:srcRect b="0" l="0" r="0" t="0"/>
          <a:stretch/>
        </p:blipFill>
        <p:spPr>
          <a:xfrm>
            <a:off x="170720" y="1833172"/>
            <a:ext cx="6307735" cy="4828032"/>
          </a:xfrm>
          <a:prstGeom prst="rect">
            <a:avLst/>
          </a:prstGeom>
          <a:noFill/>
          <a:ln>
            <a:noFill/>
          </a:ln>
        </p:spPr>
      </p:pic>
      <p:grpSp>
        <p:nvGrpSpPr>
          <p:cNvPr id="379" name="Google Shape;379;p12"/>
          <p:cNvGrpSpPr/>
          <p:nvPr/>
        </p:nvGrpSpPr>
        <p:grpSpPr>
          <a:xfrm>
            <a:off x="8656450" y="2888143"/>
            <a:ext cx="1097280" cy="2176513"/>
            <a:chOff x="8656450" y="2888143"/>
            <a:chExt cx="1097280" cy="2176513"/>
          </a:xfrm>
        </p:grpSpPr>
        <p:sp>
          <p:nvSpPr>
            <p:cNvPr id="380" name="Google Shape;380;p12"/>
            <p:cNvSpPr/>
            <p:nvPr/>
          </p:nvSpPr>
          <p:spPr>
            <a:xfrm>
              <a:off x="8656450" y="3967376"/>
              <a:ext cx="1097280" cy="10972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Illumina/Solexa</a:t>
              </a:r>
              <a:endParaRPr b="1" i="0" sz="1800" u="none" cap="none" strike="noStrike">
                <a:solidFill>
                  <a:srgbClr val="323F4F"/>
                </a:solidFill>
                <a:latin typeface="Calibri"/>
                <a:ea typeface="Calibri"/>
                <a:cs typeface="Calibri"/>
                <a:sym typeface="Calibri"/>
              </a:endParaRPr>
            </a:p>
          </p:txBody>
        </p:sp>
        <p:cxnSp>
          <p:nvCxnSpPr>
            <p:cNvPr id="381" name="Google Shape;381;p12"/>
            <p:cNvCxnSpPr/>
            <p:nvPr/>
          </p:nvCxnSpPr>
          <p:spPr>
            <a:xfrm flipH="1">
              <a:off x="9201869" y="2888143"/>
              <a:ext cx="6442" cy="1075375"/>
            </a:xfrm>
            <a:prstGeom prst="straightConnector1">
              <a:avLst/>
            </a:prstGeom>
            <a:noFill/>
            <a:ln cap="flat" cmpd="sng" w="19050">
              <a:solidFill>
                <a:srgbClr val="D8D8D8"/>
              </a:solidFill>
              <a:prstDash val="solid"/>
              <a:miter lim="800000"/>
              <a:headEnd len="sm" w="sm" type="none"/>
              <a:tailEnd len="sm" w="sm" type="none"/>
            </a:ln>
          </p:spPr>
        </p:cxnSp>
      </p:grpSp>
      <p:cxnSp>
        <p:nvCxnSpPr>
          <p:cNvPr id="382" name="Google Shape;382;p12"/>
          <p:cNvCxnSpPr/>
          <p:nvPr/>
        </p:nvCxnSpPr>
        <p:spPr>
          <a:xfrm rot="10800000">
            <a:off x="9760447" y="1489622"/>
            <a:ext cx="0" cy="1371600"/>
          </a:xfrm>
          <a:prstGeom prst="straightConnector1">
            <a:avLst/>
          </a:prstGeom>
          <a:noFill/>
          <a:ln cap="flat" cmpd="sng" w="19050">
            <a:solidFill>
              <a:srgbClr val="D8D8D8"/>
            </a:solidFill>
            <a:prstDash val="solid"/>
            <a:miter lim="800000"/>
            <a:headEnd len="sm" w="sm" type="none"/>
            <a:tailEnd len="sm" w="sm" type="none"/>
          </a:ln>
        </p:spPr>
      </p:cxnSp>
      <p:cxnSp>
        <p:nvCxnSpPr>
          <p:cNvPr id="383" name="Google Shape;383;p12"/>
          <p:cNvCxnSpPr/>
          <p:nvPr/>
        </p:nvCxnSpPr>
        <p:spPr>
          <a:xfrm rot="10800000">
            <a:off x="10092369" y="2030051"/>
            <a:ext cx="0" cy="822960"/>
          </a:xfrm>
          <a:prstGeom prst="straightConnector1">
            <a:avLst/>
          </a:prstGeom>
          <a:noFill/>
          <a:ln cap="flat" cmpd="sng" w="19050">
            <a:solidFill>
              <a:srgbClr val="D8D8D8"/>
            </a:solidFill>
            <a:prstDash val="solid"/>
            <a:miter lim="800000"/>
            <a:headEnd len="sm" w="sm" type="none"/>
            <a:tailEnd len="sm" w="sm" type="none"/>
          </a:ln>
        </p:spPr>
      </p:cxnSp>
      <p:cxnSp>
        <p:nvCxnSpPr>
          <p:cNvPr id="384" name="Google Shape;384;p12"/>
          <p:cNvCxnSpPr/>
          <p:nvPr/>
        </p:nvCxnSpPr>
        <p:spPr>
          <a:xfrm rot="10800000">
            <a:off x="10393959" y="2231449"/>
            <a:ext cx="0" cy="640080"/>
          </a:xfrm>
          <a:prstGeom prst="straightConnector1">
            <a:avLst/>
          </a:prstGeom>
          <a:noFill/>
          <a:ln cap="flat" cmpd="sng" w="19050">
            <a:solidFill>
              <a:srgbClr val="D8D8D8"/>
            </a:solidFill>
            <a:prstDash val="solid"/>
            <a:miter lim="800000"/>
            <a:headEnd len="sm" w="sm" type="none"/>
            <a:tailEnd len="sm" w="sm" type="none"/>
          </a:ln>
        </p:spPr>
      </p:cxnSp>
      <p:cxnSp>
        <p:nvCxnSpPr>
          <p:cNvPr id="385" name="Google Shape;385;p12"/>
          <p:cNvCxnSpPr/>
          <p:nvPr/>
        </p:nvCxnSpPr>
        <p:spPr>
          <a:xfrm rot="10800000">
            <a:off x="11000963" y="2579790"/>
            <a:ext cx="0" cy="274320"/>
          </a:xfrm>
          <a:prstGeom prst="straightConnector1">
            <a:avLst/>
          </a:prstGeom>
          <a:noFill/>
          <a:ln cap="flat" cmpd="sng" w="19050">
            <a:solidFill>
              <a:srgbClr val="D8D8D8"/>
            </a:solidFill>
            <a:prstDash val="solid"/>
            <a:miter lim="800000"/>
            <a:headEnd len="sm" w="sm" type="none"/>
            <a:tailEnd len="sm" w="sm" type="none"/>
          </a:ln>
        </p:spPr>
      </p:cxnSp>
      <p:sp>
        <p:nvSpPr>
          <p:cNvPr id="386" name="Google Shape;386;p12"/>
          <p:cNvSpPr/>
          <p:nvPr/>
        </p:nvSpPr>
        <p:spPr>
          <a:xfrm>
            <a:off x="9211807" y="554978"/>
            <a:ext cx="1097280" cy="10972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PacBio</a:t>
            </a:r>
            <a:endParaRPr b="0" i="0" sz="1400" u="none" cap="none" strike="noStrike">
              <a:solidFill>
                <a:srgbClr val="000000"/>
              </a:solidFill>
              <a:latin typeface="Arial"/>
              <a:ea typeface="Arial"/>
              <a:cs typeface="Arial"/>
              <a:sym typeface="Arial"/>
            </a:endParaRPr>
          </a:p>
        </p:txBody>
      </p:sp>
      <p:sp>
        <p:nvSpPr>
          <p:cNvPr id="387" name="Google Shape;387;p12"/>
          <p:cNvSpPr/>
          <p:nvPr/>
        </p:nvSpPr>
        <p:spPr>
          <a:xfrm>
            <a:off x="10000929" y="184549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sp>
        <p:nvSpPr>
          <p:cNvPr id="388" name="Google Shape;388;p12"/>
          <p:cNvSpPr/>
          <p:nvPr/>
        </p:nvSpPr>
        <p:spPr>
          <a:xfrm>
            <a:off x="10302519" y="204520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sp>
        <p:nvSpPr>
          <p:cNvPr id="389" name="Google Shape;389;p12"/>
          <p:cNvSpPr/>
          <p:nvPr/>
        </p:nvSpPr>
        <p:spPr>
          <a:xfrm>
            <a:off x="10908640" y="2390531"/>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cxnSp>
        <p:nvCxnSpPr>
          <p:cNvPr id="390" name="Google Shape;390;p12"/>
          <p:cNvCxnSpPr/>
          <p:nvPr/>
        </p:nvCxnSpPr>
        <p:spPr>
          <a:xfrm flipH="1" rot="10800000">
            <a:off x="9631723" y="2873695"/>
            <a:ext cx="2250" cy="822960"/>
          </a:xfrm>
          <a:prstGeom prst="straightConnector1">
            <a:avLst/>
          </a:prstGeom>
          <a:noFill/>
          <a:ln cap="flat" cmpd="sng" w="19050">
            <a:solidFill>
              <a:srgbClr val="D8D8D8"/>
            </a:solidFill>
            <a:prstDash val="solid"/>
            <a:miter lim="800000"/>
            <a:headEnd len="sm" w="sm" type="none"/>
            <a:tailEnd len="sm" w="sm" type="none"/>
          </a:ln>
        </p:spPr>
      </p:cxnSp>
      <p:sp>
        <p:nvSpPr>
          <p:cNvPr id="391" name="Google Shape;391;p12"/>
          <p:cNvSpPr/>
          <p:nvPr/>
        </p:nvSpPr>
        <p:spPr>
          <a:xfrm>
            <a:off x="9537681" y="3679404"/>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92" name="Google Shape;392;p12"/>
          <p:cNvSpPr/>
          <p:nvPr/>
        </p:nvSpPr>
        <p:spPr>
          <a:xfrm>
            <a:off x="9669007" y="2311665"/>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93" name="Google Shape;393;p12"/>
          <p:cNvSpPr/>
          <p:nvPr/>
        </p:nvSpPr>
        <p:spPr>
          <a:xfrm>
            <a:off x="9850148" y="3193654"/>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394" name="Google Shape;394;p12"/>
          <p:cNvCxnSpPr/>
          <p:nvPr/>
        </p:nvCxnSpPr>
        <p:spPr>
          <a:xfrm rot="10800000">
            <a:off x="9941588" y="2866360"/>
            <a:ext cx="0" cy="345654"/>
          </a:xfrm>
          <a:prstGeom prst="straightConnector1">
            <a:avLst/>
          </a:prstGeom>
          <a:noFill/>
          <a:ln cap="flat" cmpd="sng" w="19050">
            <a:solidFill>
              <a:srgbClr val="D8D8D8"/>
            </a:solidFill>
            <a:prstDash val="solid"/>
            <a:miter lim="800000"/>
            <a:headEnd len="sm" w="sm" type="none"/>
            <a:tailEnd len="sm" w="sm" type="none"/>
          </a:ln>
        </p:spPr>
      </p:cxnSp>
      <p:sp>
        <p:nvSpPr>
          <p:cNvPr id="395" name="Google Shape;395;p12"/>
          <p:cNvSpPr/>
          <p:nvPr/>
        </p:nvSpPr>
        <p:spPr>
          <a:xfrm>
            <a:off x="10302519" y="3047366"/>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396" name="Google Shape;396;p12"/>
          <p:cNvCxnSpPr/>
          <p:nvPr/>
        </p:nvCxnSpPr>
        <p:spPr>
          <a:xfrm rot="10800000">
            <a:off x="10393959" y="2868057"/>
            <a:ext cx="0" cy="182880"/>
          </a:xfrm>
          <a:prstGeom prst="straightConnector1">
            <a:avLst/>
          </a:prstGeom>
          <a:noFill/>
          <a:ln cap="flat" cmpd="sng" w="19050">
            <a:solidFill>
              <a:srgbClr val="D8D8D8"/>
            </a:solidFill>
            <a:prstDash val="solid"/>
            <a:miter lim="800000"/>
            <a:headEnd len="sm" w="sm" type="none"/>
            <a:tailEnd len="sm" w="sm" type="none"/>
          </a:ln>
        </p:spPr>
      </p:cxnSp>
      <p:cxnSp>
        <p:nvCxnSpPr>
          <p:cNvPr id="397" name="Google Shape;397;p12"/>
          <p:cNvCxnSpPr/>
          <p:nvPr/>
        </p:nvCxnSpPr>
        <p:spPr>
          <a:xfrm>
            <a:off x="10249143" y="2864825"/>
            <a:ext cx="0" cy="2743200"/>
          </a:xfrm>
          <a:prstGeom prst="straightConnector1">
            <a:avLst/>
          </a:prstGeom>
          <a:noFill/>
          <a:ln cap="flat" cmpd="sng" w="19050">
            <a:solidFill>
              <a:srgbClr val="D8D8D8"/>
            </a:solidFill>
            <a:prstDash val="solid"/>
            <a:miter lim="800000"/>
            <a:headEnd len="sm" w="sm" type="none"/>
            <a:tailEnd len="sm" w="sm" type="none"/>
          </a:ln>
        </p:spPr>
      </p:cxnSp>
      <p:sp>
        <p:nvSpPr>
          <p:cNvPr id="398" name="Google Shape;398;p12"/>
          <p:cNvSpPr/>
          <p:nvPr/>
        </p:nvSpPr>
        <p:spPr>
          <a:xfrm>
            <a:off x="9700503" y="5279418"/>
            <a:ext cx="1097280" cy="10972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23F4F"/>
                </a:solidFill>
                <a:latin typeface="Calibri"/>
                <a:ea typeface="Calibri"/>
                <a:cs typeface="Calibri"/>
                <a:sym typeface="Calibri"/>
              </a:rPr>
              <a:t>Oxford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23F4F"/>
                </a:solidFill>
                <a:latin typeface="Calibri"/>
                <a:ea typeface="Calibri"/>
                <a:cs typeface="Calibri"/>
                <a:sym typeface="Calibri"/>
              </a:rPr>
              <a:t>Nanopore</a:t>
            </a:r>
            <a:endParaRPr b="0" i="0" sz="1400" u="none" cap="none" strike="noStrike">
              <a:solidFill>
                <a:srgbClr val="000000"/>
              </a:solidFill>
              <a:latin typeface="Arial"/>
              <a:ea typeface="Arial"/>
              <a:cs typeface="Arial"/>
              <a:sym typeface="Arial"/>
            </a:endParaRPr>
          </a:p>
        </p:txBody>
      </p:sp>
      <p:sp>
        <p:nvSpPr>
          <p:cNvPr id="399" name="Google Shape;399;p12"/>
          <p:cNvSpPr/>
          <p:nvPr/>
        </p:nvSpPr>
        <p:spPr>
          <a:xfrm>
            <a:off x="10607805" y="4985093"/>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400" name="Google Shape;400;p12"/>
          <p:cNvCxnSpPr/>
          <p:nvPr/>
        </p:nvCxnSpPr>
        <p:spPr>
          <a:xfrm rot="10800000">
            <a:off x="10699245" y="2879150"/>
            <a:ext cx="0" cy="2103120"/>
          </a:xfrm>
          <a:prstGeom prst="straightConnector1">
            <a:avLst/>
          </a:prstGeom>
          <a:noFill/>
          <a:ln cap="flat" cmpd="sng" w="19050">
            <a:solidFill>
              <a:srgbClr val="D8D8D8"/>
            </a:solidFill>
            <a:prstDash val="solid"/>
            <a:miter lim="800000"/>
            <a:headEnd len="sm" w="sm" type="none"/>
            <a:tailEnd len="sm" w="sm" type="none"/>
          </a:ln>
        </p:spPr>
      </p:cxnSp>
      <p:cxnSp>
        <p:nvCxnSpPr>
          <p:cNvPr id="401" name="Google Shape;401;p12"/>
          <p:cNvCxnSpPr/>
          <p:nvPr/>
        </p:nvCxnSpPr>
        <p:spPr>
          <a:xfrm rot="10800000">
            <a:off x="10852206" y="2875684"/>
            <a:ext cx="0" cy="1737360"/>
          </a:xfrm>
          <a:prstGeom prst="straightConnector1">
            <a:avLst/>
          </a:prstGeom>
          <a:noFill/>
          <a:ln cap="flat" cmpd="sng" w="19050">
            <a:solidFill>
              <a:srgbClr val="D8D8D8"/>
            </a:solidFill>
            <a:prstDash val="solid"/>
            <a:miter lim="800000"/>
            <a:headEnd len="sm" w="sm" type="none"/>
            <a:tailEnd len="sm" w="sm" type="none"/>
          </a:ln>
        </p:spPr>
      </p:cxnSp>
      <p:sp>
        <p:nvSpPr>
          <p:cNvPr id="402" name="Google Shape;402;p12"/>
          <p:cNvSpPr/>
          <p:nvPr/>
        </p:nvSpPr>
        <p:spPr>
          <a:xfrm>
            <a:off x="10908565" y="4245004"/>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403" name="Google Shape;403;p12"/>
          <p:cNvCxnSpPr/>
          <p:nvPr/>
        </p:nvCxnSpPr>
        <p:spPr>
          <a:xfrm rot="10800000">
            <a:off x="11000954" y="2873703"/>
            <a:ext cx="0" cy="1371600"/>
          </a:xfrm>
          <a:prstGeom prst="straightConnector1">
            <a:avLst/>
          </a:prstGeom>
          <a:noFill/>
          <a:ln cap="flat" cmpd="sng" w="19050">
            <a:solidFill>
              <a:srgbClr val="D8D8D8"/>
            </a:solidFill>
            <a:prstDash val="solid"/>
            <a:miter lim="800000"/>
            <a:headEnd len="sm" w="sm" type="none"/>
            <a:tailEnd len="sm" w="sm" type="none"/>
          </a:ln>
        </p:spPr>
      </p:cxnSp>
      <p:sp>
        <p:nvSpPr>
          <p:cNvPr id="404" name="Google Shape;404;p12"/>
          <p:cNvSpPr/>
          <p:nvPr/>
        </p:nvSpPr>
        <p:spPr>
          <a:xfrm>
            <a:off x="10607805" y="3355640"/>
            <a:ext cx="182880" cy="182880"/>
          </a:xfrm>
          <a:prstGeom prst="ellipse">
            <a:avLst/>
          </a:prstGeom>
          <a:solidFill>
            <a:srgbClr val="FFC00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405" name="Google Shape;405;p12"/>
          <p:cNvSpPr/>
          <p:nvPr/>
        </p:nvSpPr>
        <p:spPr>
          <a:xfrm>
            <a:off x="10760766" y="4590407"/>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406" name="Google Shape;406;p12"/>
          <p:cNvSpPr txBox="1"/>
          <p:nvPr/>
        </p:nvSpPr>
        <p:spPr>
          <a:xfrm>
            <a:off x="6652204" y="6472606"/>
            <a:ext cx="534973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1 – 3 days, 30-300bp reads, PE or SE, 20 – 67,000 Mb/h</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500"/>
                                        <p:tgtEl>
                                          <p:spTgt spid="390"/>
                                        </p:tgtEl>
                                      </p:cBhvr>
                                    </p:animEffect>
                                    <p:set>
                                      <p:cBhvr>
                                        <p:cTn dur="1" fill="hold">
                                          <p:stCondLst>
                                            <p:cond delay="500"/>
                                          </p:stCondLst>
                                        </p:cTn>
                                        <p:tgtEl>
                                          <p:spTgt spid="39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91"/>
                                        </p:tgtEl>
                                      </p:cBhvr>
                                    </p:animEffect>
                                    <p:set>
                                      <p:cBhvr>
                                        <p:cTn dur="1" fill="hold">
                                          <p:stCondLst>
                                            <p:cond delay="500"/>
                                          </p:stCondLst>
                                        </p:cTn>
                                        <p:tgtEl>
                                          <p:spTgt spid="39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92"/>
                                        </p:tgtEl>
                                      </p:cBhvr>
                                    </p:animEffect>
                                    <p:set>
                                      <p:cBhvr>
                                        <p:cTn dur="1" fill="hold">
                                          <p:stCondLst>
                                            <p:cond delay="500"/>
                                          </p:stCondLst>
                                        </p:cTn>
                                        <p:tgtEl>
                                          <p:spTgt spid="39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93"/>
                                        </p:tgtEl>
                                      </p:cBhvr>
                                    </p:animEffect>
                                    <p:set>
                                      <p:cBhvr>
                                        <p:cTn dur="1" fill="hold">
                                          <p:stCondLst>
                                            <p:cond delay="500"/>
                                          </p:stCondLst>
                                        </p:cTn>
                                        <p:tgtEl>
                                          <p:spTgt spid="39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94"/>
                                        </p:tgtEl>
                                      </p:cBhvr>
                                    </p:animEffect>
                                    <p:set>
                                      <p:cBhvr>
                                        <p:cTn dur="1" fill="hold">
                                          <p:stCondLst>
                                            <p:cond delay="500"/>
                                          </p:stCondLst>
                                        </p:cTn>
                                        <p:tgtEl>
                                          <p:spTgt spid="39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95"/>
                                        </p:tgtEl>
                                      </p:cBhvr>
                                    </p:animEffect>
                                    <p:set>
                                      <p:cBhvr>
                                        <p:cTn dur="1" fill="hold">
                                          <p:stCondLst>
                                            <p:cond delay="500"/>
                                          </p:stCondLst>
                                        </p:cTn>
                                        <p:tgtEl>
                                          <p:spTgt spid="39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96"/>
                                        </p:tgtEl>
                                      </p:cBhvr>
                                    </p:animEffect>
                                    <p:set>
                                      <p:cBhvr>
                                        <p:cTn dur="1" fill="hold">
                                          <p:stCondLst>
                                            <p:cond delay="500"/>
                                          </p:stCondLst>
                                        </p:cTn>
                                        <p:tgtEl>
                                          <p:spTgt spid="39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04"/>
                                        </p:tgtEl>
                                      </p:cBhvr>
                                    </p:animEffect>
                                    <p:set>
                                      <p:cBhvr>
                                        <p:cTn dur="1" fill="hold">
                                          <p:stCondLst>
                                            <p:cond delay="500"/>
                                          </p:stCondLst>
                                        </p:cTn>
                                        <p:tgtEl>
                                          <p:spTgt spid="40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descr="Illumina 1.jpg" id="411" name="Google Shape;411;p13"/>
          <p:cNvPicPr preferRelativeResize="0"/>
          <p:nvPr/>
        </p:nvPicPr>
        <p:blipFill rotWithShape="1">
          <a:blip r:embed="rId3">
            <a:alphaModFix/>
          </a:blip>
          <a:srcRect b="55966" l="0" r="0" t="0"/>
          <a:stretch/>
        </p:blipFill>
        <p:spPr>
          <a:xfrm>
            <a:off x="856697" y="284737"/>
            <a:ext cx="5223578" cy="3054491"/>
          </a:xfrm>
          <a:prstGeom prst="rect">
            <a:avLst/>
          </a:prstGeom>
          <a:noFill/>
          <a:ln>
            <a:noFill/>
          </a:ln>
        </p:spPr>
      </p:pic>
      <p:pic>
        <p:nvPicPr>
          <p:cNvPr descr="Illumina 1.jpg" id="412" name="Google Shape;412;p13"/>
          <p:cNvPicPr preferRelativeResize="0"/>
          <p:nvPr/>
        </p:nvPicPr>
        <p:blipFill rotWithShape="1">
          <a:blip r:embed="rId4">
            <a:alphaModFix/>
          </a:blip>
          <a:srcRect b="5898" l="0" r="0" t="49561"/>
          <a:stretch/>
        </p:blipFill>
        <p:spPr>
          <a:xfrm>
            <a:off x="6080275" y="284737"/>
            <a:ext cx="5223578" cy="3054491"/>
          </a:xfrm>
          <a:prstGeom prst="rect">
            <a:avLst/>
          </a:prstGeom>
          <a:noFill/>
          <a:ln>
            <a:noFill/>
          </a:ln>
        </p:spPr>
      </p:pic>
      <p:pic>
        <p:nvPicPr>
          <p:cNvPr descr="Images | Illumina images for general use" id="413" name="Google Shape;413;p13"/>
          <p:cNvPicPr preferRelativeResize="0"/>
          <p:nvPr/>
        </p:nvPicPr>
        <p:blipFill rotWithShape="1">
          <a:blip r:embed="rId5">
            <a:alphaModFix/>
          </a:blip>
          <a:srcRect b="0" l="38600" r="38599" t="0"/>
          <a:stretch/>
        </p:blipFill>
        <p:spPr>
          <a:xfrm rot="5400000">
            <a:off x="1928577" y="3195063"/>
            <a:ext cx="1158240" cy="3302000"/>
          </a:xfrm>
          <a:prstGeom prst="rect">
            <a:avLst/>
          </a:prstGeom>
          <a:noFill/>
          <a:ln>
            <a:noFill/>
          </a:ln>
        </p:spPr>
      </p:pic>
      <p:sp>
        <p:nvSpPr>
          <p:cNvPr id="414" name="Google Shape;414;p13"/>
          <p:cNvSpPr/>
          <p:nvPr/>
        </p:nvSpPr>
        <p:spPr>
          <a:xfrm>
            <a:off x="3748715" y="4500774"/>
            <a:ext cx="91440" cy="91440"/>
          </a:xfrm>
          <a:prstGeom prst="ellipse">
            <a:avLst/>
          </a:prstGeom>
          <a:solidFill>
            <a:srgbClr val="FF00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5" name="Google Shape;415;p13"/>
          <p:cNvSpPr/>
          <p:nvPr/>
        </p:nvSpPr>
        <p:spPr>
          <a:xfrm>
            <a:off x="5589173" y="3761280"/>
            <a:ext cx="2286000" cy="2286000"/>
          </a:xfrm>
          <a:prstGeom prst="ellipse">
            <a:avLst/>
          </a:prstGeom>
          <a:solidFill>
            <a:schemeClr val="dk1"/>
          </a:solidFill>
          <a:ln cap="flat" cmpd="sng" w="12700">
            <a:solidFill>
              <a:srgbClr val="FF009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416" name="Google Shape;416;p13"/>
          <p:cNvGrpSpPr/>
          <p:nvPr/>
        </p:nvGrpSpPr>
        <p:grpSpPr>
          <a:xfrm>
            <a:off x="5837875" y="4027430"/>
            <a:ext cx="1788596" cy="1753700"/>
            <a:chOff x="5873448" y="4027320"/>
            <a:chExt cx="1788596" cy="1753700"/>
          </a:xfrm>
        </p:grpSpPr>
        <p:sp>
          <p:nvSpPr>
            <p:cNvPr id="417" name="Google Shape;417;p13"/>
            <p:cNvSpPr/>
            <p:nvPr/>
          </p:nvSpPr>
          <p:spPr>
            <a:xfrm>
              <a:off x="7350111" y="4216012"/>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8" name="Google Shape;418;p13"/>
            <p:cNvSpPr/>
            <p:nvPr/>
          </p:nvSpPr>
          <p:spPr>
            <a:xfrm>
              <a:off x="7243370" y="5051164"/>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9" name="Google Shape;419;p13"/>
            <p:cNvSpPr/>
            <p:nvPr/>
          </p:nvSpPr>
          <p:spPr>
            <a:xfrm>
              <a:off x="6214824" y="4027320"/>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0" name="Google Shape;420;p13"/>
            <p:cNvSpPr/>
            <p:nvPr/>
          </p:nvSpPr>
          <p:spPr>
            <a:xfrm>
              <a:off x="7588892" y="4706899"/>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1" name="Google Shape;421;p13"/>
            <p:cNvSpPr/>
            <p:nvPr/>
          </p:nvSpPr>
          <p:spPr>
            <a:xfrm>
              <a:off x="6695597" y="4329564"/>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2" name="Google Shape;422;p13"/>
            <p:cNvSpPr/>
            <p:nvPr/>
          </p:nvSpPr>
          <p:spPr>
            <a:xfrm>
              <a:off x="6386968" y="5311194"/>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3" name="Google Shape;423;p13"/>
            <p:cNvSpPr/>
            <p:nvPr/>
          </p:nvSpPr>
          <p:spPr>
            <a:xfrm>
              <a:off x="6622445" y="5637589"/>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4" name="Google Shape;424;p13"/>
            <p:cNvSpPr/>
            <p:nvPr/>
          </p:nvSpPr>
          <p:spPr>
            <a:xfrm>
              <a:off x="6768749" y="5014588"/>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5" name="Google Shape;425;p13"/>
            <p:cNvSpPr/>
            <p:nvPr/>
          </p:nvSpPr>
          <p:spPr>
            <a:xfrm>
              <a:off x="5910024" y="4904280"/>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6" name="Google Shape;426;p13"/>
            <p:cNvSpPr/>
            <p:nvPr/>
          </p:nvSpPr>
          <p:spPr>
            <a:xfrm>
              <a:off x="5946600" y="5425183"/>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7" name="Google Shape;427;p13"/>
            <p:cNvSpPr/>
            <p:nvPr/>
          </p:nvSpPr>
          <p:spPr>
            <a:xfrm>
              <a:off x="5873448" y="4670323"/>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8" name="Google Shape;428;p13"/>
            <p:cNvSpPr/>
            <p:nvPr/>
          </p:nvSpPr>
          <p:spPr>
            <a:xfrm>
              <a:off x="6141672" y="4536217"/>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9" name="Google Shape;429;p13"/>
            <p:cNvSpPr/>
            <p:nvPr/>
          </p:nvSpPr>
          <p:spPr>
            <a:xfrm>
              <a:off x="7279946" y="5707868"/>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0" name="Google Shape;430;p13"/>
            <p:cNvSpPr/>
            <p:nvPr/>
          </p:nvSpPr>
          <p:spPr>
            <a:xfrm>
              <a:off x="6934970" y="4772911"/>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431" name="Google Shape;431;p13"/>
          <p:cNvGrpSpPr/>
          <p:nvPr/>
        </p:nvGrpSpPr>
        <p:grpSpPr>
          <a:xfrm>
            <a:off x="5837875" y="4027430"/>
            <a:ext cx="1788596" cy="1753700"/>
            <a:chOff x="5873448" y="4027320"/>
            <a:chExt cx="1788596" cy="1753700"/>
          </a:xfrm>
        </p:grpSpPr>
        <p:sp>
          <p:nvSpPr>
            <p:cNvPr id="432" name="Google Shape;432;p13"/>
            <p:cNvSpPr/>
            <p:nvPr/>
          </p:nvSpPr>
          <p:spPr>
            <a:xfrm>
              <a:off x="7350111" y="4216012"/>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3" name="Google Shape;433;p13"/>
            <p:cNvSpPr/>
            <p:nvPr/>
          </p:nvSpPr>
          <p:spPr>
            <a:xfrm>
              <a:off x="7243370" y="5051164"/>
              <a:ext cx="73152" cy="73152"/>
            </a:xfrm>
            <a:prstGeom prst="star10">
              <a:avLst>
                <a:gd fmla="val 42533" name="adj"/>
                <a:gd fmla="val 105146" name="hf"/>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4" name="Google Shape;434;p13"/>
            <p:cNvSpPr/>
            <p:nvPr/>
          </p:nvSpPr>
          <p:spPr>
            <a:xfrm>
              <a:off x="6214824" y="4027320"/>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5" name="Google Shape;435;p13"/>
            <p:cNvSpPr/>
            <p:nvPr/>
          </p:nvSpPr>
          <p:spPr>
            <a:xfrm>
              <a:off x="7588892" y="4706899"/>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6" name="Google Shape;436;p13"/>
            <p:cNvSpPr/>
            <p:nvPr/>
          </p:nvSpPr>
          <p:spPr>
            <a:xfrm>
              <a:off x="6695597" y="4329564"/>
              <a:ext cx="73152" cy="73152"/>
            </a:xfrm>
            <a:prstGeom prst="star10">
              <a:avLst>
                <a:gd fmla="val 42533" name="adj"/>
                <a:gd fmla="val 105146" name="hf"/>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7" name="Google Shape;437;p13"/>
            <p:cNvSpPr/>
            <p:nvPr/>
          </p:nvSpPr>
          <p:spPr>
            <a:xfrm>
              <a:off x="6386968" y="5311194"/>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8" name="Google Shape;438;p13"/>
            <p:cNvSpPr/>
            <p:nvPr/>
          </p:nvSpPr>
          <p:spPr>
            <a:xfrm>
              <a:off x="6622445" y="5637589"/>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9" name="Google Shape;439;p13"/>
            <p:cNvSpPr/>
            <p:nvPr/>
          </p:nvSpPr>
          <p:spPr>
            <a:xfrm>
              <a:off x="6768749" y="5014588"/>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0" name="Google Shape;440;p13"/>
            <p:cNvSpPr/>
            <p:nvPr/>
          </p:nvSpPr>
          <p:spPr>
            <a:xfrm>
              <a:off x="5910024" y="4904280"/>
              <a:ext cx="73152" cy="73152"/>
            </a:xfrm>
            <a:prstGeom prst="star10">
              <a:avLst>
                <a:gd fmla="val 42533" name="adj"/>
                <a:gd fmla="val 105146" name="hf"/>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1" name="Google Shape;441;p13"/>
            <p:cNvSpPr/>
            <p:nvPr/>
          </p:nvSpPr>
          <p:spPr>
            <a:xfrm>
              <a:off x="5946600" y="5425183"/>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2" name="Google Shape;442;p13"/>
            <p:cNvSpPr/>
            <p:nvPr/>
          </p:nvSpPr>
          <p:spPr>
            <a:xfrm>
              <a:off x="5873448" y="4670323"/>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3" name="Google Shape;443;p13"/>
            <p:cNvSpPr/>
            <p:nvPr/>
          </p:nvSpPr>
          <p:spPr>
            <a:xfrm>
              <a:off x="6141672" y="4536217"/>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4" name="Google Shape;444;p13"/>
            <p:cNvSpPr/>
            <p:nvPr/>
          </p:nvSpPr>
          <p:spPr>
            <a:xfrm>
              <a:off x="7279946" y="5707868"/>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5" name="Google Shape;445;p13"/>
            <p:cNvSpPr/>
            <p:nvPr/>
          </p:nvSpPr>
          <p:spPr>
            <a:xfrm>
              <a:off x="6934970" y="4772911"/>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446" name="Google Shape;446;p13"/>
          <p:cNvGrpSpPr/>
          <p:nvPr/>
        </p:nvGrpSpPr>
        <p:grpSpPr>
          <a:xfrm>
            <a:off x="5837875" y="4027430"/>
            <a:ext cx="1788596" cy="1753700"/>
            <a:chOff x="5873448" y="4027320"/>
            <a:chExt cx="1788596" cy="1753700"/>
          </a:xfrm>
        </p:grpSpPr>
        <p:sp>
          <p:nvSpPr>
            <p:cNvPr id="447" name="Google Shape;447;p13"/>
            <p:cNvSpPr/>
            <p:nvPr/>
          </p:nvSpPr>
          <p:spPr>
            <a:xfrm>
              <a:off x="7350111" y="4216012"/>
              <a:ext cx="73152" cy="73152"/>
            </a:xfrm>
            <a:prstGeom prst="star10">
              <a:avLst>
                <a:gd fmla="val 42533" name="adj"/>
                <a:gd fmla="val 105146" name="hf"/>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8" name="Google Shape;448;p13"/>
            <p:cNvSpPr/>
            <p:nvPr/>
          </p:nvSpPr>
          <p:spPr>
            <a:xfrm>
              <a:off x="7243370" y="5051164"/>
              <a:ext cx="73152" cy="73152"/>
            </a:xfrm>
            <a:prstGeom prst="star10">
              <a:avLst>
                <a:gd fmla="val 42533" name="adj"/>
                <a:gd fmla="val 105146" name="hf"/>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9" name="Google Shape;449;p13"/>
            <p:cNvSpPr/>
            <p:nvPr/>
          </p:nvSpPr>
          <p:spPr>
            <a:xfrm>
              <a:off x="6214824" y="4027320"/>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0" name="Google Shape;450;p13"/>
            <p:cNvSpPr/>
            <p:nvPr/>
          </p:nvSpPr>
          <p:spPr>
            <a:xfrm>
              <a:off x="7588892" y="4706899"/>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1" name="Google Shape;451;p13"/>
            <p:cNvSpPr/>
            <p:nvPr/>
          </p:nvSpPr>
          <p:spPr>
            <a:xfrm>
              <a:off x="6695597" y="4329564"/>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2" name="Google Shape;452;p13"/>
            <p:cNvSpPr/>
            <p:nvPr/>
          </p:nvSpPr>
          <p:spPr>
            <a:xfrm>
              <a:off x="6386968" y="5311194"/>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3" name="Google Shape;453;p13"/>
            <p:cNvSpPr/>
            <p:nvPr/>
          </p:nvSpPr>
          <p:spPr>
            <a:xfrm>
              <a:off x="6622445" y="5637589"/>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4" name="Google Shape;454;p13"/>
            <p:cNvSpPr/>
            <p:nvPr/>
          </p:nvSpPr>
          <p:spPr>
            <a:xfrm>
              <a:off x="6768749" y="5014588"/>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5" name="Google Shape;455;p13"/>
            <p:cNvSpPr/>
            <p:nvPr/>
          </p:nvSpPr>
          <p:spPr>
            <a:xfrm>
              <a:off x="5910024" y="4904280"/>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6" name="Google Shape;456;p13"/>
            <p:cNvSpPr/>
            <p:nvPr/>
          </p:nvSpPr>
          <p:spPr>
            <a:xfrm>
              <a:off x="5946600" y="5425183"/>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7" name="Google Shape;457;p13"/>
            <p:cNvSpPr/>
            <p:nvPr/>
          </p:nvSpPr>
          <p:spPr>
            <a:xfrm>
              <a:off x="5873448" y="4670323"/>
              <a:ext cx="73152" cy="73152"/>
            </a:xfrm>
            <a:prstGeom prst="star10">
              <a:avLst>
                <a:gd fmla="val 42533" name="adj"/>
                <a:gd fmla="val 105146" name="hf"/>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8" name="Google Shape;458;p13"/>
            <p:cNvSpPr/>
            <p:nvPr/>
          </p:nvSpPr>
          <p:spPr>
            <a:xfrm>
              <a:off x="6141672" y="4536217"/>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9" name="Google Shape;459;p13"/>
            <p:cNvSpPr/>
            <p:nvPr/>
          </p:nvSpPr>
          <p:spPr>
            <a:xfrm>
              <a:off x="7279946" y="5707868"/>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0" name="Google Shape;460;p13"/>
            <p:cNvSpPr/>
            <p:nvPr/>
          </p:nvSpPr>
          <p:spPr>
            <a:xfrm>
              <a:off x="6934970" y="4772911"/>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461" name="Google Shape;461;p13"/>
          <p:cNvSpPr/>
          <p:nvPr/>
        </p:nvSpPr>
        <p:spPr>
          <a:xfrm>
            <a:off x="7220777" y="4106481"/>
            <a:ext cx="274320" cy="274320"/>
          </a:xfrm>
          <a:prstGeom prst="rect">
            <a:avLst/>
          </a:prstGeom>
          <a:noFill/>
          <a:ln cap="flat" cmpd="sng" w="12700">
            <a:solidFill>
              <a:srgbClr val="FFFD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2" name="Google Shape;462;p13"/>
          <p:cNvSpPr txBox="1"/>
          <p:nvPr/>
        </p:nvSpPr>
        <p:spPr>
          <a:xfrm>
            <a:off x="8306291" y="3874309"/>
            <a:ext cx="1099980"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DF2"/>
                </a:solidFill>
                <a:latin typeface="Calibri"/>
                <a:ea typeface="Calibri"/>
                <a:cs typeface="Calibri"/>
                <a:sym typeface="Calibri"/>
              </a:rPr>
              <a:t>Sequence</a:t>
            </a:r>
            <a:endParaRPr b="0" i="0" sz="1400" u="none" cap="none" strike="noStrike">
              <a:solidFill>
                <a:srgbClr val="000000"/>
              </a:solidFill>
              <a:latin typeface="Arial"/>
              <a:ea typeface="Arial"/>
              <a:cs typeface="Arial"/>
              <a:sym typeface="Arial"/>
            </a:endParaRPr>
          </a:p>
        </p:txBody>
      </p:sp>
      <p:grpSp>
        <p:nvGrpSpPr>
          <p:cNvPr id="463" name="Google Shape;463;p13"/>
          <p:cNvGrpSpPr/>
          <p:nvPr/>
        </p:nvGrpSpPr>
        <p:grpSpPr>
          <a:xfrm>
            <a:off x="5837875" y="4027430"/>
            <a:ext cx="1788596" cy="1753700"/>
            <a:chOff x="5873448" y="4027320"/>
            <a:chExt cx="1788596" cy="1753700"/>
          </a:xfrm>
        </p:grpSpPr>
        <p:sp>
          <p:nvSpPr>
            <p:cNvPr id="464" name="Google Shape;464;p13"/>
            <p:cNvSpPr/>
            <p:nvPr/>
          </p:nvSpPr>
          <p:spPr>
            <a:xfrm>
              <a:off x="7350111" y="4216012"/>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5" name="Google Shape;465;p13"/>
            <p:cNvSpPr/>
            <p:nvPr/>
          </p:nvSpPr>
          <p:spPr>
            <a:xfrm>
              <a:off x="7243370" y="5051164"/>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6" name="Google Shape;466;p13"/>
            <p:cNvSpPr/>
            <p:nvPr/>
          </p:nvSpPr>
          <p:spPr>
            <a:xfrm>
              <a:off x="6214824" y="4027320"/>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7" name="Google Shape;467;p13"/>
            <p:cNvSpPr/>
            <p:nvPr/>
          </p:nvSpPr>
          <p:spPr>
            <a:xfrm>
              <a:off x="7588892" y="4706899"/>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8" name="Google Shape;468;p13"/>
            <p:cNvSpPr/>
            <p:nvPr/>
          </p:nvSpPr>
          <p:spPr>
            <a:xfrm>
              <a:off x="6695597" y="4329564"/>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9" name="Google Shape;469;p13"/>
            <p:cNvSpPr/>
            <p:nvPr/>
          </p:nvSpPr>
          <p:spPr>
            <a:xfrm>
              <a:off x="6386968" y="5311194"/>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0" name="Google Shape;470;p13"/>
            <p:cNvSpPr/>
            <p:nvPr/>
          </p:nvSpPr>
          <p:spPr>
            <a:xfrm>
              <a:off x="6622445" y="5637589"/>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1" name="Google Shape;471;p13"/>
            <p:cNvSpPr/>
            <p:nvPr/>
          </p:nvSpPr>
          <p:spPr>
            <a:xfrm>
              <a:off x="6768749" y="5014588"/>
              <a:ext cx="73152" cy="73152"/>
            </a:xfrm>
            <a:prstGeom prst="star10">
              <a:avLst>
                <a:gd fmla="val 42533" name="adj"/>
                <a:gd fmla="val 105146" name="hf"/>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2" name="Google Shape;472;p13"/>
            <p:cNvSpPr/>
            <p:nvPr/>
          </p:nvSpPr>
          <p:spPr>
            <a:xfrm>
              <a:off x="5910024" y="4904280"/>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3" name="Google Shape;473;p13"/>
            <p:cNvSpPr/>
            <p:nvPr/>
          </p:nvSpPr>
          <p:spPr>
            <a:xfrm>
              <a:off x="5946600" y="5425183"/>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4" name="Google Shape;474;p13"/>
            <p:cNvSpPr/>
            <p:nvPr/>
          </p:nvSpPr>
          <p:spPr>
            <a:xfrm>
              <a:off x="5873448" y="4670323"/>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5" name="Google Shape;475;p13"/>
            <p:cNvSpPr/>
            <p:nvPr/>
          </p:nvSpPr>
          <p:spPr>
            <a:xfrm>
              <a:off x="6141672" y="4536217"/>
              <a:ext cx="73152" cy="73152"/>
            </a:xfrm>
            <a:prstGeom prst="star10">
              <a:avLst>
                <a:gd fmla="val 42533" name="adj"/>
                <a:gd fmla="val 105146" name="hf"/>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6" name="Google Shape;476;p13"/>
            <p:cNvSpPr/>
            <p:nvPr/>
          </p:nvSpPr>
          <p:spPr>
            <a:xfrm>
              <a:off x="7279946" y="5707868"/>
              <a:ext cx="73152" cy="73152"/>
            </a:xfrm>
            <a:prstGeom prst="star10">
              <a:avLst>
                <a:gd fmla="val 42533" name="adj"/>
                <a:gd fmla="val 105146" name="hf"/>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7" name="Google Shape;477;p13"/>
            <p:cNvSpPr/>
            <p:nvPr/>
          </p:nvSpPr>
          <p:spPr>
            <a:xfrm>
              <a:off x="6934970" y="4772911"/>
              <a:ext cx="73152" cy="73152"/>
            </a:xfrm>
            <a:prstGeom prst="star10">
              <a:avLst>
                <a:gd fmla="val 42533" name="adj"/>
                <a:gd fmla="val 105146" name="hf"/>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478" name="Google Shape;478;p13"/>
          <p:cNvSpPr/>
          <p:nvPr/>
        </p:nvSpPr>
        <p:spPr>
          <a:xfrm>
            <a:off x="8306291" y="4145008"/>
            <a:ext cx="3770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DF2"/>
                </a:solidFill>
                <a:latin typeface="Calibri"/>
                <a:ea typeface="Calibri"/>
                <a:cs typeface="Calibri"/>
                <a:sym typeface="Calibri"/>
              </a:rPr>
              <a:t> </a:t>
            </a:r>
            <a:r>
              <a:rPr b="1" i="0" lang="en-US" sz="1800" u="none" cap="none" strike="noStrike">
                <a:solidFill>
                  <a:srgbClr val="FF0000"/>
                </a:solidFill>
                <a:latin typeface="Calibri"/>
                <a:ea typeface="Calibri"/>
                <a:cs typeface="Calibri"/>
                <a:sym typeface="Calibri"/>
              </a:rPr>
              <a:t>A</a:t>
            </a:r>
            <a:endParaRPr b="0" i="0" sz="1800" u="none" cap="none" strike="noStrike">
              <a:solidFill>
                <a:schemeClr val="dk1"/>
              </a:solidFill>
              <a:latin typeface="Calibri"/>
              <a:ea typeface="Calibri"/>
              <a:cs typeface="Calibri"/>
              <a:sym typeface="Calibri"/>
            </a:endParaRPr>
          </a:p>
        </p:txBody>
      </p:sp>
      <p:sp>
        <p:nvSpPr>
          <p:cNvPr id="479" name="Google Shape;479;p13"/>
          <p:cNvSpPr/>
          <p:nvPr/>
        </p:nvSpPr>
        <p:spPr>
          <a:xfrm>
            <a:off x="8564398" y="4145008"/>
            <a:ext cx="30649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882FF"/>
                </a:solidFill>
                <a:latin typeface="Calibri"/>
                <a:ea typeface="Calibri"/>
                <a:cs typeface="Calibri"/>
                <a:sym typeface="Calibri"/>
              </a:rPr>
              <a:t>C</a:t>
            </a:r>
            <a:endParaRPr b="0" i="0" sz="1800" u="none" cap="none" strike="noStrike">
              <a:solidFill>
                <a:schemeClr val="dk1"/>
              </a:solidFill>
              <a:latin typeface="Calibri"/>
              <a:ea typeface="Calibri"/>
              <a:cs typeface="Calibri"/>
              <a:sym typeface="Calibri"/>
            </a:endParaRPr>
          </a:p>
        </p:txBody>
      </p:sp>
      <p:sp>
        <p:nvSpPr>
          <p:cNvPr id="480" name="Google Shape;480;p13"/>
          <p:cNvSpPr/>
          <p:nvPr/>
        </p:nvSpPr>
        <p:spPr>
          <a:xfrm>
            <a:off x="8751973" y="4145008"/>
            <a:ext cx="3321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00"/>
                </a:solidFill>
                <a:latin typeface="Calibri"/>
                <a:ea typeface="Calibri"/>
                <a:cs typeface="Calibri"/>
                <a:sym typeface="Calibri"/>
              </a:rPr>
              <a:t>G</a:t>
            </a:r>
            <a:endParaRPr b="0" i="0" sz="1800" u="none" cap="none" strike="noStrike">
              <a:solidFill>
                <a:schemeClr val="dk1"/>
              </a:solidFill>
              <a:latin typeface="Calibri"/>
              <a:ea typeface="Calibri"/>
              <a:cs typeface="Calibri"/>
              <a:sym typeface="Calibri"/>
            </a:endParaRPr>
          </a:p>
        </p:txBody>
      </p:sp>
      <p:sp>
        <p:nvSpPr>
          <p:cNvPr id="481" name="Google Shape;481;p13"/>
          <p:cNvSpPr/>
          <p:nvPr/>
        </p:nvSpPr>
        <p:spPr>
          <a:xfrm>
            <a:off x="8965195" y="4145008"/>
            <a:ext cx="29848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6"/>
                </a:solidFill>
                <a:latin typeface="Calibri"/>
                <a:ea typeface="Calibri"/>
                <a:cs typeface="Calibri"/>
                <a:sym typeface="Calibri"/>
              </a:rPr>
              <a:t>T</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415"/>
                                        </p:tgtEl>
                                        <p:attrNameLst>
                                          <p:attrName>style.visibility</p:attrName>
                                        </p:attrNameLst>
                                      </p:cBhvr>
                                      <p:to>
                                        <p:strVal val="visible"/>
                                      </p:to>
                                    </p:set>
                                    <p:anim calcmode="lin" valueType="num">
                                      <p:cBhvr additive="base">
                                        <p:cTn dur="500"/>
                                        <p:tgtEl>
                                          <p:spTgt spid="415"/>
                                        </p:tgtEl>
                                        <p:attrNameLst>
                                          <p:attrName>ppt_w</p:attrName>
                                        </p:attrNameLst>
                                      </p:cBhvr>
                                      <p:tavLst>
                                        <p:tav fmla="" tm="0">
                                          <p:val>
                                            <p:strVal val="0"/>
                                          </p:val>
                                        </p:tav>
                                        <p:tav fmla="" tm="100000">
                                          <p:val>
                                            <p:strVal val="#ppt_w"/>
                                          </p:val>
                                        </p:tav>
                                      </p:tavLst>
                                    </p:anim>
                                    <p:anim calcmode="lin" valueType="num">
                                      <p:cBhvr additive="base">
                                        <p:cTn dur="500"/>
                                        <p:tgtEl>
                                          <p:spTgt spid="41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500"/>
                                        <p:tgtEl>
                                          <p:spTgt spid="4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500"/>
                                        <p:tgtEl>
                                          <p:spTgt spid="4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par>
                                <p:cTn fill="hold" nodeType="with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500"/>
                                        <p:tgtEl>
                                          <p:spTgt spid="4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500"/>
                                        <p:tgtEl>
                                          <p:spTgt spid="446"/>
                                        </p:tgtEl>
                                      </p:cBhvr>
                                    </p:animEffect>
                                  </p:childTnLst>
                                </p:cTn>
                              </p:par>
                              <p:par>
                                <p:cTn fill="hold" nodeType="with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500"/>
                                        <p:tgtEl>
                                          <p:spTgt spid="4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gtEl>
                                        <p:attrNameLst>
                                          <p:attrName>style.visibility</p:attrName>
                                        </p:attrNameLst>
                                      </p:cBhvr>
                                      <p:to>
                                        <p:strVal val="visible"/>
                                      </p:to>
                                    </p:set>
                                    <p:animEffect filter="fade" transition="in">
                                      <p:cBhvr>
                                        <p:cTn dur="500"/>
                                        <p:tgtEl>
                                          <p:spTgt spid="463"/>
                                        </p:tgtEl>
                                      </p:cBhvr>
                                    </p:animEffect>
                                  </p:childTnLst>
                                </p:cTn>
                              </p:par>
                              <p:par>
                                <p:cTn fill="hold" nodeType="with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Illumina Short Reads</a:t>
            </a:r>
            <a:endParaRPr/>
          </a:p>
        </p:txBody>
      </p:sp>
      <p:sp>
        <p:nvSpPr>
          <p:cNvPr id="487" name="Google Shape;48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solidFill>
                  <a:schemeClr val="lt1"/>
                </a:solidFill>
              </a:rPr>
              <a:t>Varying length, increasing with time</a:t>
            </a:r>
            <a:endParaRPr/>
          </a:p>
          <a:p>
            <a:pPr indent="-228600" lvl="0" marL="228600" rtl="0" algn="l">
              <a:lnSpc>
                <a:spcPct val="90000"/>
              </a:lnSpc>
              <a:spcBef>
                <a:spcPts val="1000"/>
              </a:spcBef>
              <a:spcAft>
                <a:spcPts val="0"/>
              </a:spcAft>
              <a:buClr>
                <a:schemeClr val="lt1"/>
              </a:buClr>
              <a:buSzPts val="2800"/>
              <a:buChar char="•"/>
            </a:pPr>
            <a:r>
              <a:rPr lang="en-US">
                <a:solidFill>
                  <a:schemeClr val="lt1"/>
                </a:solidFill>
              </a:rPr>
              <a:t>Can be “single end” or “paired end”</a:t>
            </a:r>
            <a:endParaRPr/>
          </a:p>
          <a:p>
            <a:pPr indent="-228600" lvl="0" marL="228600" rtl="0" algn="l">
              <a:lnSpc>
                <a:spcPct val="90000"/>
              </a:lnSpc>
              <a:spcBef>
                <a:spcPts val="1000"/>
              </a:spcBef>
              <a:spcAft>
                <a:spcPts val="0"/>
              </a:spcAft>
              <a:buClr>
                <a:schemeClr val="lt1"/>
              </a:buClr>
              <a:buSzPts val="2800"/>
              <a:buChar char="•"/>
            </a:pPr>
            <a:r>
              <a:rPr lang="en-US">
                <a:solidFill>
                  <a:schemeClr val="lt1"/>
                </a:solidFill>
              </a:rPr>
              <a:t>Large output files, storage can be a limiting factor</a:t>
            </a:r>
            <a:endParaRPr/>
          </a:p>
          <a:p>
            <a:pPr indent="-228600" lvl="0" marL="228600" rtl="0" algn="l">
              <a:lnSpc>
                <a:spcPct val="90000"/>
              </a:lnSpc>
              <a:spcBef>
                <a:spcPts val="1000"/>
              </a:spcBef>
              <a:spcAft>
                <a:spcPts val="0"/>
              </a:spcAft>
              <a:buClr>
                <a:schemeClr val="lt1"/>
              </a:buClr>
              <a:buSzPts val="2800"/>
              <a:buChar char="•"/>
            </a:pPr>
            <a:r>
              <a:rPr lang="en-US">
                <a:solidFill>
                  <a:schemeClr val="lt1"/>
                </a:solidFill>
              </a:rPr>
              <a:t>fastq file format – sequence (reads) + quality information</a:t>
            </a:r>
            <a:endParaRPr/>
          </a:p>
          <a:p>
            <a:pPr indent="-228600" lvl="0" marL="228600" rtl="0" algn="l">
              <a:lnSpc>
                <a:spcPct val="90000"/>
              </a:lnSpc>
              <a:spcBef>
                <a:spcPts val="1000"/>
              </a:spcBef>
              <a:spcAft>
                <a:spcPts val="0"/>
              </a:spcAft>
              <a:buClr>
                <a:schemeClr val="lt1"/>
              </a:buClr>
              <a:buSzPts val="2800"/>
              <a:buChar char="•"/>
            </a:pPr>
            <a:r>
              <a:rPr lang="en-US">
                <a:solidFill>
                  <a:schemeClr val="lt1"/>
                </a:solidFill>
              </a:rPr>
              <a:t>Sequencing design can influence data quantity/quality</a:t>
            </a:r>
            <a:endParaRPr/>
          </a:p>
          <a:p>
            <a:pPr indent="-228600" lvl="1" marL="685800" rtl="0" algn="l">
              <a:lnSpc>
                <a:spcPct val="90000"/>
              </a:lnSpc>
              <a:spcBef>
                <a:spcPts val="500"/>
              </a:spcBef>
              <a:spcAft>
                <a:spcPts val="0"/>
              </a:spcAft>
              <a:buClr>
                <a:schemeClr val="lt1"/>
              </a:buClr>
              <a:buSzPts val="1800"/>
              <a:buChar char="•"/>
            </a:pPr>
            <a:r>
              <a:rPr lang="en-US" sz="1800">
                <a:solidFill>
                  <a:schemeClr val="lt1"/>
                </a:solidFill>
              </a:rPr>
              <a:t>PCR duplicates</a:t>
            </a:r>
            <a:endParaRPr/>
          </a:p>
          <a:p>
            <a:pPr indent="-228600" lvl="1" marL="685800" rtl="0" algn="l">
              <a:lnSpc>
                <a:spcPct val="90000"/>
              </a:lnSpc>
              <a:spcBef>
                <a:spcPts val="500"/>
              </a:spcBef>
              <a:spcAft>
                <a:spcPts val="0"/>
              </a:spcAft>
              <a:buClr>
                <a:schemeClr val="lt1"/>
              </a:buClr>
              <a:buSzPts val="1800"/>
              <a:buChar char="•"/>
            </a:pPr>
            <a:r>
              <a:rPr lang="en-US" sz="1800">
                <a:solidFill>
                  <a:schemeClr val="lt1"/>
                </a:solidFill>
              </a:rPr>
              <a:t>Optical duplicates</a:t>
            </a:r>
            <a:endParaRPr/>
          </a:p>
          <a:p>
            <a:pPr indent="-228600" lvl="1" marL="685800" rtl="0" algn="l">
              <a:lnSpc>
                <a:spcPct val="90000"/>
              </a:lnSpc>
              <a:spcBef>
                <a:spcPts val="500"/>
              </a:spcBef>
              <a:spcAft>
                <a:spcPts val="0"/>
              </a:spcAft>
              <a:buClr>
                <a:schemeClr val="lt1"/>
              </a:buClr>
              <a:buSzPts val="1800"/>
              <a:buChar char="•"/>
            </a:pPr>
            <a:r>
              <a:rPr lang="en-US" sz="1800">
                <a:solidFill>
                  <a:schemeClr val="lt1"/>
                </a:solidFill>
              </a:rPr>
              <a:t>Adapter contamination</a:t>
            </a:r>
            <a:endParaRPr/>
          </a:p>
          <a:p>
            <a:pPr indent="-228600" lvl="1" marL="685800" rtl="0" algn="l">
              <a:lnSpc>
                <a:spcPct val="90000"/>
              </a:lnSpc>
              <a:spcBef>
                <a:spcPts val="500"/>
              </a:spcBef>
              <a:spcAft>
                <a:spcPts val="0"/>
              </a:spcAft>
              <a:buClr>
                <a:schemeClr val="lt1"/>
              </a:buClr>
              <a:buSzPts val="1800"/>
              <a:buChar char="•"/>
            </a:pPr>
            <a:r>
              <a:rPr lang="en-US" sz="1800">
                <a:solidFill>
                  <a:schemeClr val="lt1"/>
                </a:solidFill>
              </a:rPr>
              <a:t>Overrepresented sequences </a:t>
            </a:r>
            <a:endParaRPr/>
          </a:p>
          <a:p>
            <a:pPr indent="-228600" lvl="0" marL="228600" rtl="0" algn="l">
              <a:lnSpc>
                <a:spcPct val="90000"/>
              </a:lnSpc>
              <a:spcBef>
                <a:spcPts val="1000"/>
              </a:spcBef>
              <a:spcAft>
                <a:spcPts val="0"/>
              </a:spcAft>
              <a:buClr>
                <a:schemeClr val="lt1"/>
              </a:buClr>
              <a:buSzPts val="2800"/>
              <a:buChar char="•"/>
            </a:pPr>
            <a:r>
              <a:rPr lang="en-US">
                <a:solidFill>
                  <a:schemeClr val="lt1"/>
                </a:solidFill>
              </a:rPr>
              <a:t>Technical and biological replication is critical</a:t>
            </a:r>
            <a:endParaRPr/>
          </a:p>
        </p:txBody>
      </p:sp>
      <p:sp>
        <p:nvSpPr>
          <p:cNvPr id="488" name="Google Shape;488;p14"/>
          <p:cNvSpPr/>
          <p:nvPr/>
        </p:nvSpPr>
        <p:spPr>
          <a:xfrm>
            <a:off x="7823199" y="681037"/>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9" name="Google Shape;489;p14"/>
          <p:cNvSpPr/>
          <p:nvPr/>
        </p:nvSpPr>
        <p:spPr>
          <a:xfrm>
            <a:off x="7823200" y="285296"/>
            <a:ext cx="3904343"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0" name="Google Shape;490;p14"/>
          <p:cNvSpPr/>
          <p:nvPr/>
        </p:nvSpPr>
        <p:spPr>
          <a:xfrm>
            <a:off x="8621484" y="885721"/>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1" name="Google Shape;491;p14"/>
          <p:cNvSpPr/>
          <p:nvPr/>
        </p:nvSpPr>
        <p:spPr>
          <a:xfrm>
            <a:off x="8831941" y="1090405"/>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2" name="Google Shape;492;p14"/>
          <p:cNvSpPr/>
          <p:nvPr/>
        </p:nvSpPr>
        <p:spPr>
          <a:xfrm>
            <a:off x="7935682" y="1704457"/>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3" name="Google Shape;493;p14"/>
          <p:cNvSpPr/>
          <p:nvPr/>
        </p:nvSpPr>
        <p:spPr>
          <a:xfrm>
            <a:off x="8432799" y="1295089"/>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4" name="Google Shape;494;p14"/>
          <p:cNvSpPr/>
          <p:nvPr/>
        </p:nvSpPr>
        <p:spPr>
          <a:xfrm>
            <a:off x="10377714" y="2727877"/>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5" name="Google Shape;495;p14"/>
          <p:cNvSpPr/>
          <p:nvPr/>
        </p:nvSpPr>
        <p:spPr>
          <a:xfrm>
            <a:off x="9651999" y="1909141"/>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6" name="Google Shape;496;p14"/>
          <p:cNvSpPr/>
          <p:nvPr/>
        </p:nvSpPr>
        <p:spPr>
          <a:xfrm>
            <a:off x="10105570" y="2318509"/>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7" name="Google Shape;497;p14"/>
          <p:cNvSpPr/>
          <p:nvPr/>
        </p:nvSpPr>
        <p:spPr>
          <a:xfrm>
            <a:off x="9042399" y="2113825"/>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8" name="Google Shape;498;p14"/>
          <p:cNvSpPr/>
          <p:nvPr/>
        </p:nvSpPr>
        <p:spPr>
          <a:xfrm>
            <a:off x="10377714" y="1499773"/>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9" name="Google Shape;499;p14"/>
          <p:cNvSpPr/>
          <p:nvPr/>
        </p:nvSpPr>
        <p:spPr>
          <a:xfrm>
            <a:off x="10051140" y="3137245"/>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0" name="Google Shape;500;p14"/>
          <p:cNvSpPr/>
          <p:nvPr/>
        </p:nvSpPr>
        <p:spPr>
          <a:xfrm>
            <a:off x="9535883" y="2932561"/>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1" name="Google Shape;501;p14"/>
          <p:cNvSpPr/>
          <p:nvPr/>
        </p:nvSpPr>
        <p:spPr>
          <a:xfrm>
            <a:off x="8222341" y="2523193"/>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2" name="Google Shape;502;p14"/>
          <p:cNvSpPr/>
          <p:nvPr/>
        </p:nvSpPr>
        <p:spPr>
          <a:xfrm>
            <a:off x="10203540" y="3341929"/>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3" name="Google Shape;503;p14"/>
          <p:cNvSpPr/>
          <p:nvPr/>
        </p:nvSpPr>
        <p:spPr>
          <a:xfrm>
            <a:off x="10355940" y="3546613"/>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4" name="Google Shape;504;p14"/>
          <p:cNvSpPr/>
          <p:nvPr/>
        </p:nvSpPr>
        <p:spPr>
          <a:xfrm>
            <a:off x="10508340" y="3751297"/>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5" name="Google Shape;505;p14"/>
          <p:cNvSpPr/>
          <p:nvPr/>
        </p:nvSpPr>
        <p:spPr>
          <a:xfrm>
            <a:off x="10660740" y="3955981"/>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6" name="Google Shape;506;p14"/>
          <p:cNvSpPr/>
          <p:nvPr/>
        </p:nvSpPr>
        <p:spPr>
          <a:xfrm>
            <a:off x="10871197" y="4160672"/>
            <a:ext cx="1030515" cy="159657"/>
          </a:xfrm>
          <a:prstGeom prst="rect">
            <a:avLst/>
          </a:prstGeom>
          <a:solidFill>
            <a:srgbClr val="2882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xEl>
                                              <p:pRg end="0" st="0"/>
                                            </p:txEl>
                                          </p:spTgt>
                                        </p:tgtEl>
                                        <p:attrNameLst>
                                          <p:attrName>style.visibility</p:attrName>
                                        </p:attrNameLst>
                                      </p:cBhvr>
                                      <p:to>
                                        <p:strVal val="visible"/>
                                      </p:to>
                                    </p:set>
                                    <p:animEffect filter="fade" transition="in">
                                      <p:cBhvr>
                                        <p:cTn dur="500"/>
                                        <p:tgtEl>
                                          <p:spTgt spid="4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xEl>
                                              <p:pRg end="1" st="1"/>
                                            </p:txEl>
                                          </p:spTgt>
                                        </p:tgtEl>
                                        <p:attrNameLst>
                                          <p:attrName>style.visibility</p:attrName>
                                        </p:attrNameLst>
                                      </p:cBhvr>
                                      <p:to>
                                        <p:strVal val="visible"/>
                                      </p:to>
                                    </p:set>
                                    <p:animEffect filter="fade" transition="in">
                                      <p:cBhvr>
                                        <p:cTn dur="500"/>
                                        <p:tgtEl>
                                          <p:spTgt spid="4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xEl>
                                              <p:pRg end="2" st="2"/>
                                            </p:txEl>
                                          </p:spTgt>
                                        </p:tgtEl>
                                        <p:attrNameLst>
                                          <p:attrName>style.visibility</p:attrName>
                                        </p:attrNameLst>
                                      </p:cBhvr>
                                      <p:to>
                                        <p:strVal val="visible"/>
                                      </p:to>
                                    </p:set>
                                    <p:animEffect filter="fade" transition="in">
                                      <p:cBhvr>
                                        <p:cTn dur="500"/>
                                        <p:tgtEl>
                                          <p:spTgt spid="4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xEl>
                                              <p:pRg end="3" st="3"/>
                                            </p:txEl>
                                          </p:spTgt>
                                        </p:tgtEl>
                                        <p:attrNameLst>
                                          <p:attrName>style.visibility</p:attrName>
                                        </p:attrNameLst>
                                      </p:cBhvr>
                                      <p:to>
                                        <p:strVal val="visible"/>
                                      </p:to>
                                    </p:set>
                                    <p:animEffect filter="fade" transition="in">
                                      <p:cBhvr>
                                        <p:cTn dur="500"/>
                                        <p:tgtEl>
                                          <p:spTgt spid="4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xEl>
                                              <p:pRg end="4" st="4"/>
                                            </p:txEl>
                                          </p:spTgt>
                                        </p:tgtEl>
                                        <p:attrNameLst>
                                          <p:attrName>style.visibility</p:attrName>
                                        </p:attrNameLst>
                                      </p:cBhvr>
                                      <p:to>
                                        <p:strVal val="visible"/>
                                      </p:to>
                                    </p:set>
                                    <p:animEffect filter="fade" transition="in">
                                      <p:cBhvr>
                                        <p:cTn dur="500"/>
                                        <p:tgtEl>
                                          <p:spTgt spid="4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xEl>
                                              <p:pRg end="5" st="5"/>
                                            </p:txEl>
                                          </p:spTgt>
                                        </p:tgtEl>
                                        <p:attrNameLst>
                                          <p:attrName>style.visibility</p:attrName>
                                        </p:attrNameLst>
                                      </p:cBhvr>
                                      <p:to>
                                        <p:strVal val="visible"/>
                                      </p:to>
                                    </p:set>
                                    <p:animEffect filter="fade" transition="in">
                                      <p:cBhvr>
                                        <p:cTn dur="500"/>
                                        <p:tgtEl>
                                          <p:spTgt spid="48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xEl>
                                              <p:pRg end="6" st="6"/>
                                            </p:txEl>
                                          </p:spTgt>
                                        </p:tgtEl>
                                        <p:attrNameLst>
                                          <p:attrName>style.visibility</p:attrName>
                                        </p:attrNameLst>
                                      </p:cBhvr>
                                      <p:to>
                                        <p:strVal val="visible"/>
                                      </p:to>
                                    </p:set>
                                    <p:animEffect filter="fade" transition="in">
                                      <p:cBhvr>
                                        <p:cTn dur="500"/>
                                        <p:tgtEl>
                                          <p:spTgt spid="48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xEl>
                                              <p:pRg end="7" st="7"/>
                                            </p:txEl>
                                          </p:spTgt>
                                        </p:tgtEl>
                                        <p:attrNameLst>
                                          <p:attrName>style.visibility</p:attrName>
                                        </p:attrNameLst>
                                      </p:cBhvr>
                                      <p:to>
                                        <p:strVal val="visible"/>
                                      </p:to>
                                    </p:set>
                                    <p:animEffect filter="fade" transition="in">
                                      <p:cBhvr>
                                        <p:cTn dur="500"/>
                                        <p:tgtEl>
                                          <p:spTgt spid="48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xEl>
                                              <p:pRg end="8" st="8"/>
                                            </p:txEl>
                                          </p:spTgt>
                                        </p:tgtEl>
                                        <p:attrNameLst>
                                          <p:attrName>style.visibility</p:attrName>
                                        </p:attrNameLst>
                                      </p:cBhvr>
                                      <p:to>
                                        <p:strVal val="visible"/>
                                      </p:to>
                                    </p:set>
                                    <p:animEffect filter="fade" transition="in">
                                      <p:cBhvr>
                                        <p:cTn dur="500"/>
                                        <p:tgtEl>
                                          <p:spTgt spid="48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xEl>
                                              <p:pRg end="9" st="9"/>
                                            </p:txEl>
                                          </p:spTgt>
                                        </p:tgtEl>
                                        <p:attrNameLst>
                                          <p:attrName>style.visibility</p:attrName>
                                        </p:attrNameLst>
                                      </p:cBhvr>
                                      <p:to>
                                        <p:strVal val="visible"/>
                                      </p:to>
                                    </p:set>
                                    <p:animEffect filter="fade" transition="in">
                                      <p:cBhvr>
                                        <p:cTn dur="500"/>
                                        <p:tgtEl>
                                          <p:spTgt spid="487">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cxnSp>
        <p:nvCxnSpPr>
          <p:cNvPr id="511" name="Google Shape;511;p15"/>
          <p:cNvCxnSpPr/>
          <p:nvPr/>
        </p:nvCxnSpPr>
        <p:spPr>
          <a:xfrm>
            <a:off x="0" y="2870096"/>
            <a:ext cx="12192000" cy="0"/>
          </a:xfrm>
          <a:prstGeom prst="straightConnector1">
            <a:avLst/>
          </a:prstGeom>
          <a:noFill/>
          <a:ln cap="flat" cmpd="sng" w="38100">
            <a:solidFill>
              <a:srgbClr val="D8D8D8"/>
            </a:solidFill>
            <a:prstDash val="solid"/>
            <a:miter lim="800000"/>
            <a:headEnd len="sm" w="sm" type="none"/>
            <a:tailEnd len="sm" w="sm" type="none"/>
          </a:ln>
        </p:spPr>
      </p:cxnSp>
      <p:sp>
        <p:nvSpPr>
          <p:cNvPr id="512" name="Google Shape;512;p15"/>
          <p:cNvSpPr/>
          <p:nvPr/>
        </p:nvSpPr>
        <p:spPr>
          <a:xfrm>
            <a:off x="0" y="0"/>
            <a:ext cx="61341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513" name="Google Shape;513;p15"/>
          <p:cNvCxnSpPr/>
          <p:nvPr/>
        </p:nvCxnSpPr>
        <p:spPr>
          <a:xfrm rot="10800000">
            <a:off x="10092369" y="2030051"/>
            <a:ext cx="0" cy="822960"/>
          </a:xfrm>
          <a:prstGeom prst="straightConnector1">
            <a:avLst/>
          </a:prstGeom>
          <a:noFill/>
          <a:ln cap="flat" cmpd="sng" w="19050">
            <a:solidFill>
              <a:srgbClr val="D8D8D8"/>
            </a:solidFill>
            <a:prstDash val="solid"/>
            <a:miter lim="800000"/>
            <a:headEnd len="sm" w="sm" type="none"/>
            <a:tailEnd len="sm" w="sm" type="none"/>
          </a:ln>
        </p:spPr>
      </p:cxnSp>
      <p:cxnSp>
        <p:nvCxnSpPr>
          <p:cNvPr id="514" name="Google Shape;514;p15"/>
          <p:cNvCxnSpPr/>
          <p:nvPr/>
        </p:nvCxnSpPr>
        <p:spPr>
          <a:xfrm rot="10800000">
            <a:off x="10393959" y="2231449"/>
            <a:ext cx="0" cy="640080"/>
          </a:xfrm>
          <a:prstGeom prst="straightConnector1">
            <a:avLst/>
          </a:prstGeom>
          <a:noFill/>
          <a:ln cap="flat" cmpd="sng" w="19050">
            <a:solidFill>
              <a:srgbClr val="D8D8D8"/>
            </a:solidFill>
            <a:prstDash val="solid"/>
            <a:miter lim="800000"/>
            <a:headEnd len="sm" w="sm" type="none"/>
            <a:tailEnd len="sm" w="sm" type="none"/>
          </a:ln>
        </p:spPr>
      </p:cxnSp>
      <p:cxnSp>
        <p:nvCxnSpPr>
          <p:cNvPr id="515" name="Google Shape;515;p15"/>
          <p:cNvCxnSpPr/>
          <p:nvPr/>
        </p:nvCxnSpPr>
        <p:spPr>
          <a:xfrm rot="10800000">
            <a:off x="11000963" y="2579790"/>
            <a:ext cx="0" cy="274320"/>
          </a:xfrm>
          <a:prstGeom prst="straightConnector1">
            <a:avLst/>
          </a:prstGeom>
          <a:noFill/>
          <a:ln cap="flat" cmpd="sng" w="19050">
            <a:solidFill>
              <a:srgbClr val="D8D8D8"/>
            </a:solidFill>
            <a:prstDash val="solid"/>
            <a:miter lim="800000"/>
            <a:headEnd len="sm" w="sm" type="none"/>
            <a:tailEnd len="sm" w="sm" type="none"/>
          </a:ln>
        </p:spPr>
      </p:cxnSp>
      <p:grpSp>
        <p:nvGrpSpPr>
          <p:cNvPr id="516" name="Google Shape;516;p15"/>
          <p:cNvGrpSpPr/>
          <p:nvPr/>
        </p:nvGrpSpPr>
        <p:grpSpPr>
          <a:xfrm>
            <a:off x="9211807" y="554978"/>
            <a:ext cx="1097280" cy="2306244"/>
            <a:chOff x="9211807" y="554978"/>
            <a:chExt cx="1097280" cy="2306244"/>
          </a:xfrm>
        </p:grpSpPr>
        <p:cxnSp>
          <p:nvCxnSpPr>
            <p:cNvPr id="517" name="Google Shape;517;p15"/>
            <p:cNvCxnSpPr/>
            <p:nvPr/>
          </p:nvCxnSpPr>
          <p:spPr>
            <a:xfrm rot="10800000">
              <a:off x="9760447" y="1489622"/>
              <a:ext cx="0" cy="1371600"/>
            </a:xfrm>
            <a:prstGeom prst="straightConnector1">
              <a:avLst/>
            </a:prstGeom>
            <a:noFill/>
            <a:ln cap="flat" cmpd="sng" w="19050">
              <a:solidFill>
                <a:srgbClr val="D8D8D8"/>
              </a:solidFill>
              <a:prstDash val="solid"/>
              <a:miter lim="800000"/>
              <a:headEnd len="sm" w="sm" type="none"/>
              <a:tailEnd len="sm" w="sm" type="none"/>
            </a:ln>
          </p:spPr>
        </p:cxnSp>
        <p:sp>
          <p:nvSpPr>
            <p:cNvPr id="518" name="Google Shape;518;p15"/>
            <p:cNvSpPr/>
            <p:nvPr/>
          </p:nvSpPr>
          <p:spPr>
            <a:xfrm>
              <a:off x="9211807" y="554978"/>
              <a:ext cx="1097280" cy="10972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PacBio</a:t>
              </a:r>
              <a:endParaRPr b="0" i="0" sz="1400" u="none" cap="none" strike="noStrike">
                <a:solidFill>
                  <a:srgbClr val="000000"/>
                </a:solidFill>
                <a:latin typeface="Arial"/>
                <a:ea typeface="Arial"/>
                <a:cs typeface="Arial"/>
                <a:sym typeface="Arial"/>
              </a:endParaRPr>
            </a:p>
          </p:txBody>
        </p:sp>
      </p:grpSp>
      <p:sp>
        <p:nvSpPr>
          <p:cNvPr id="519" name="Google Shape;519;p15"/>
          <p:cNvSpPr/>
          <p:nvPr/>
        </p:nvSpPr>
        <p:spPr>
          <a:xfrm>
            <a:off x="10000929" y="184549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sp>
        <p:nvSpPr>
          <p:cNvPr id="520" name="Google Shape;520;p15"/>
          <p:cNvSpPr/>
          <p:nvPr/>
        </p:nvSpPr>
        <p:spPr>
          <a:xfrm>
            <a:off x="10302519" y="2045206"/>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sp>
        <p:nvSpPr>
          <p:cNvPr id="521" name="Google Shape;521;p15"/>
          <p:cNvSpPr/>
          <p:nvPr/>
        </p:nvSpPr>
        <p:spPr>
          <a:xfrm>
            <a:off x="10908640" y="2390531"/>
            <a:ext cx="182880" cy="182880"/>
          </a:xfrm>
          <a:prstGeom prst="ellipse">
            <a:avLst/>
          </a:prstGeom>
          <a:solidFill>
            <a:srgbClr val="92D050"/>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libri"/>
              <a:ea typeface="Calibri"/>
              <a:cs typeface="Calibri"/>
              <a:sym typeface="Calibri"/>
            </a:endParaRPr>
          </a:p>
        </p:txBody>
      </p:sp>
      <p:cxnSp>
        <p:nvCxnSpPr>
          <p:cNvPr id="522" name="Google Shape;522;p15"/>
          <p:cNvCxnSpPr/>
          <p:nvPr/>
        </p:nvCxnSpPr>
        <p:spPr>
          <a:xfrm>
            <a:off x="10264257" y="2864825"/>
            <a:ext cx="0" cy="2743200"/>
          </a:xfrm>
          <a:prstGeom prst="straightConnector1">
            <a:avLst/>
          </a:prstGeom>
          <a:noFill/>
          <a:ln cap="flat" cmpd="sng" w="19050">
            <a:solidFill>
              <a:srgbClr val="D8D8D8"/>
            </a:solidFill>
            <a:prstDash val="solid"/>
            <a:miter lim="800000"/>
            <a:headEnd len="sm" w="sm" type="none"/>
            <a:tailEnd len="sm" w="sm" type="none"/>
          </a:ln>
        </p:spPr>
      </p:cxnSp>
      <p:sp>
        <p:nvSpPr>
          <p:cNvPr id="523" name="Google Shape;523;p15"/>
          <p:cNvSpPr/>
          <p:nvPr/>
        </p:nvSpPr>
        <p:spPr>
          <a:xfrm>
            <a:off x="9715617" y="5279418"/>
            <a:ext cx="1097280" cy="10972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MinION</a:t>
            </a:r>
            <a:endParaRPr b="1" i="0" sz="1800" u="none" cap="none" strike="noStrike">
              <a:solidFill>
                <a:srgbClr val="323F4F"/>
              </a:solidFill>
              <a:latin typeface="Calibri"/>
              <a:ea typeface="Calibri"/>
              <a:cs typeface="Calibri"/>
              <a:sym typeface="Calibri"/>
            </a:endParaRPr>
          </a:p>
        </p:txBody>
      </p:sp>
      <p:sp>
        <p:nvSpPr>
          <p:cNvPr id="524" name="Google Shape;524;p15"/>
          <p:cNvSpPr/>
          <p:nvPr/>
        </p:nvSpPr>
        <p:spPr>
          <a:xfrm>
            <a:off x="10607805" y="4985093"/>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525" name="Google Shape;525;p15"/>
          <p:cNvCxnSpPr/>
          <p:nvPr/>
        </p:nvCxnSpPr>
        <p:spPr>
          <a:xfrm rot="10800000">
            <a:off x="10699245" y="2879150"/>
            <a:ext cx="0" cy="2103120"/>
          </a:xfrm>
          <a:prstGeom prst="straightConnector1">
            <a:avLst/>
          </a:prstGeom>
          <a:noFill/>
          <a:ln cap="flat" cmpd="sng" w="19050">
            <a:solidFill>
              <a:srgbClr val="D8D8D8"/>
            </a:solidFill>
            <a:prstDash val="solid"/>
            <a:miter lim="800000"/>
            <a:headEnd len="sm" w="sm" type="none"/>
            <a:tailEnd len="sm" w="sm" type="none"/>
          </a:ln>
        </p:spPr>
      </p:cxnSp>
      <p:sp>
        <p:nvSpPr>
          <p:cNvPr id="526" name="Google Shape;526;p15"/>
          <p:cNvSpPr/>
          <p:nvPr/>
        </p:nvSpPr>
        <p:spPr>
          <a:xfrm>
            <a:off x="10760766" y="4590407"/>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527" name="Google Shape;527;p15"/>
          <p:cNvCxnSpPr/>
          <p:nvPr/>
        </p:nvCxnSpPr>
        <p:spPr>
          <a:xfrm rot="10800000">
            <a:off x="10852206" y="2875684"/>
            <a:ext cx="0" cy="1737360"/>
          </a:xfrm>
          <a:prstGeom prst="straightConnector1">
            <a:avLst/>
          </a:prstGeom>
          <a:noFill/>
          <a:ln cap="flat" cmpd="sng" w="19050">
            <a:solidFill>
              <a:srgbClr val="D8D8D8"/>
            </a:solidFill>
            <a:prstDash val="solid"/>
            <a:miter lim="800000"/>
            <a:headEnd len="sm" w="sm" type="none"/>
            <a:tailEnd len="sm" w="sm" type="none"/>
          </a:ln>
        </p:spPr>
      </p:cxnSp>
      <p:sp>
        <p:nvSpPr>
          <p:cNvPr id="528" name="Google Shape;528;p15"/>
          <p:cNvSpPr/>
          <p:nvPr/>
        </p:nvSpPr>
        <p:spPr>
          <a:xfrm>
            <a:off x="10908565" y="4245004"/>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529" name="Google Shape;529;p15"/>
          <p:cNvCxnSpPr/>
          <p:nvPr/>
        </p:nvCxnSpPr>
        <p:spPr>
          <a:xfrm rot="10800000">
            <a:off x="11000954" y="2873703"/>
            <a:ext cx="0" cy="1371600"/>
          </a:xfrm>
          <a:prstGeom prst="straightConnector1">
            <a:avLst/>
          </a:prstGeom>
          <a:noFill/>
          <a:ln cap="flat" cmpd="sng" w="19050">
            <a:solidFill>
              <a:srgbClr val="D8D8D8"/>
            </a:solidFill>
            <a:prstDash val="solid"/>
            <a:miter lim="800000"/>
            <a:headEnd len="sm" w="sm" type="none"/>
            <a:tailEnd len="sm" w="sm" type="none"/>
          </a:ln>
        </p:spPr>
      </p:cxnSp>
      <p:sp>
        <p:nvSpPr>
          <p:cNvPr id="530" name="Google Shape;530;p15"/>
          <p:cNvSpPr txBox="1"/>
          <p:nvPr>
            <p:ph type="title"/>
          </p:nvPr>
        </p:nvSpPr>
        <p:spPr>
          <a:xfrm>
            <a:off x="0" y="365125"/>
            <a:ext cx="61341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323F4F"/>
              </a:buClr>
              <a:buSzPts val="4800"/>
              <a:buFont typeface="Calibri"/>
              <a:buNone/>
            </a:pPr>
            <a:r>
              <a:rPr b="1" lang="en-US" sz="4800">
                <a:solidFill>
                  <a:srgbClr val="323F4F"/>
                </a:solidFill>
              </a:rPr>
              <a:t>NGS Flavors </a:t>
            </a:r>
            <a:r>
              <a:rPr b="1" lang="en-US" sz="2800">
                <a:solidFill>
                  <a:srgbClr val="323F4F"/>
                </a:solidFill>
              </a:rPr>
              <a:t>- single molecule</a:t>
            </a:r>
            <a:endParaRPr/>
          </a:p>
        </p:txBody>
      </p:sp>
      <p:pic>
        <p:nvPicPr>
          <p:cNvPr descr="Single molecule real time sequencing (SMRT). Pac- Bio. Single molecules of polymerase enzymes are attached to a sequencing matrix where just one DNA molecule will be synthesized. The enzymatic synthesis is followed individually, in real time, to reconstruct the sequence. SMRT technology does not require library construction as a prior step to sequencing, increasing the sequence production rate. Modified from Metzker (2010). " id="531" name="Google Shape;531;p15"/>
          <p:cNvPicPr preferRelativeResize="0"/>
          <p:nvPr/>
        </p:nvPicPr>
        <p:blipFill rotWithShape="1">
          <a:blip r:embed="rId3">
            <a:alphaModFix/>
          </a:blip>
          <a:srcRect b="0" l="0" r="0" t="0"/>
          <a:stretch/>
        </p:blipFill>
        <p:spPr>
          <a:xfrm>
            <a:off x="120581" y="2214834"/>
            <a:ext cx="5905550" cy="4536882"/>
          </a:xfrm>
          <a:prstGeom prst="rect">
            <a:avLst/>
          </a:prstGeom>
          <a:noFill/>
          <a:ln>
            <a:noFill/>
          </a:ln>
        </p:spPr>
      </p:pic>
      <p:sp>
        <p:nvSpPr>
          <p:cNvPr id="532" name="Google Shape;532;p15"/>
          <p:cNvSpPr txBox="1"/>
          <p:nvPr/>
        </p:nvSpPr>
        <p:spPr>
          <a:xfrm>
            <a:off x="8389266" y="867457"/>
            <a:ext cx="3740210" cy="132343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2000"/>
              <a:buFont typeface="Arial"/>
              <a:buChar char="•"/>
            </a:pPr>
            <a:r>
              <a:rPr b="0" i="0" lang="en-US" sz="2000" u="none" cap="none" strike="noStrike">
                <a:solidFill>
                  <a:schemeClr val="lt1"/>
                </a:solidFill>
                <a:latin typeface="Calibri"/>
                <a:ea typeface="Calibri"/>
                <a:cs typeface="Calibri"/>
                <a:sym typeface="Calibri"/>
              </a:rPr>
              <a:t>132 Gb of long-read sequences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2000"/>
              <a:buFont typeface="Arial"/>
              <a:buChar char="•"/>
            </a:pPr>
            <a:r>
              <a:rPr b="0" i="0" lang="en-US" sz="2000" u="none" cap="none" strike="noStrike">
                <a:solidFill>
                  <a:schemeClr val="lt1"/>
                </a:solidFill>
                <a:latin typeface="Calibri"/>
                <a:ea typeface="Calibri"/>
                <a:cs typeface="Calibri"/>
                <a:sym typeface="Calibri"/>
              </a:rPr>
              <a:t>36x coverage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2000"/>
              <a:buFont typeface="Arial"/>
              <a:buChar char="•"/>
            </a:pPr>
            <a:r>
              <a:rPr b="0" i="0" lang="en-US" sz="2000" u="none" cap="none" strike="noStrike">
                <a:solidFill>
                  <a:schemeClr val="lt1"/>
                </a:solidFill>
                <a:latin typeface="Calibri"/>
                <a:ea typeface="Calibri"/>
                <a:cs typeface="Calibri"/>
                <a:sym typeface="Calibri"/>
              </a:rPr>
              <a:t>96.8% of conserved genes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2000"/>
              <a:buFont typeface="Arial"/>
              <a:buChar char="•"/>
            </a:pPr>
            <a:r>
              <a:rPr b="0" i="0" lang="en-US" sz="2000" u="none" cap="none" strike="noStrike">
                <a:solidFill>
                  <a:schemeClr val="lt1"/>
                </a:solidFill>
                <a:latin typeface="Calibri"/>
                <a:ea typeface="Calibri"/>
                <a:cs typeface="Calibri"/>
                <a:sym typeface="Calibri"/>
              </a:rPr>
              <a:t>2 microbial symbionts</a:t>
            </a:r>
            <a:endParaRPr b="0" i="0" sz="1400" u="none" cap="none" strike="noStrike">
              <a:solidFill>
                <a:srgbClr val="000000"/>
              </a:solidFill>
              <a:latin typeface="Arial"/>
              <a:ea typeface="Arial"/>
              <a:cs typeface="Arial"/>
              <a:sym typeface="Arial"/>
            </a:endParaRPr>
          </a:p>
        </p:txBody>
      </p:sp>
      <p:pic>
        <p:nvPicPr>
          <p:cNvPr descr="All life stages of the spotted lanternfly, from egg to adult." id="533" name="Google Shape;533;p15"/>
          <p:cNvPicPr preferRelativeResize="0"/>
          <p:nvPr/>
        </p:nvPicPr>
        <p:blipFill rotWithShape="1">
          <a:blip r:embed="rId4">
            <a:alphaModFix/>
          </a:blip>
          <a:srcRect b="5344" l="2589" r="2484" t="3770"/>
          <a:stretch/>
        </p:blipFill>
        <p:spPr>
          <a:xfrm>
            <a:off x="6213686" y="3119328"/>
            <a:ext cx="5915789" cy="3467741"/>
          </a:xfrm>
          <a:prstGeom prst="rect">
            <a:avLst/>
          </a:prstGeom>
          <a:noFill/>
          <a:ln>
            <a:noFill/>
          </a:ln>
        </p:spPr>
      </p:pic>
      <p:sp>
        <p:nvSpPr>
          <p:cNvPr id="534" name="Google Shape;534;p15"/>
          <p:cNvSpPr txBox="1"/>
          <p:nvPr/>
        </p:nvSpPr>
        <p:spPr>
          <a:xfrm>
            <a:off x="6100660" y="6530662"/>
            <a:ext cx="39655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10-20 hours, 10-30 kb reads, 1300 Mb/h</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500"/>
                                        <p:tgtEl>
                                          <p:spTgt spid="519"/>
                                        </p:tgtEl>
                                      </p:cBhvr>
                                    </p:animEffect>
                                    <p:set>
                                      <p:cBhvr>
                                        <p:cTn dur="1" fill="hold">
                                          <p:stCondLst>
                                            <p:cond delay="500"/>
                                          </p:stCondLst>
                                        </p:cTn>
                                        <p:tgtEl>
                                          <p:spTgt spid="51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13"/>
                                        </p:tgtEl>
                                      </p:cBhvr>
                                    </p:animEffect>
                                    <p:set>
                                      <p:cBhvr>
                                        <p:cTn dur="1" fill="hold">
                                          <p:stCondLst>
                                            <p:cond delay="500"/>
                                          </p:stCondLst>
                                        </p:cTn>
                                        <p:tgtEl>
                                          <p:spTgt spid="51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20"/>
                                        </p:tgtEl>
                                      </p:cBhvr>
                                    </p:animEffect>
                                    <p:set>
                                      <p:cBhvr>
                                        <p:cTn dur="1" fill="hold">
                                          <p:stCondLst>
                                            <p:cond delay="500"/>
                                          </p:stCondLst>
                                        </p:cTn>
                                        <p:tgtEl>
                                          <p:spTgt spid="52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14"/>
                                        </p:tgtEl>
                                      </p:cBhvr>
                                    </p:animEffect>
                                    <p:set>
                                      <p:cBhvr>
                                        <p:cTn dur="1" fill="hold">
                                          <p:stCondLst>
                                            <p:cond delay="500"/>
                                          </p:stCondLst>
                                        </p:cTn>
                                        <p:tgtEl>
                                          <p:spTgt spid="51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21"/>
                                        </p:tgtEl>
                                      </p:cBhvr>
                                    </p:animEffect>
                                    <p:set>
                                      <p:cBhvr>
                                        <p:cTn dur="1" fill="hold">
                                          <p:stCondLst>
                                            <p:cond delay="500"/>
                                          </p:stCondLst>
                                        </p:cTn>
                                        <p:tgtEl>
                                          <p:spTgt spid="52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15"/>
                                        </p:tgtEl>
                                      </p:cBhvr>
                                    </p:animEffect>
                                    <p:set>
                                      <p:cBhvr>
                                        <p:cTn dur="1" fill="hold">
                                          <p:stCondLst>
                                            <p:cond delay="500"/>
                                          </p:stCondLst>
                                        </p:cTn>
                                        <p:tgtEl>
                                          <p:spTgt spid="5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500"/>
                                        <p:tgtEl>
                                          <p:spTgt spid="5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2"/>
                                        </p:tgtEl>
                                        <p:attrNameLst>
                                          <p:attrName>style.visibility</p:attrName>
                                        </p:attrNameLst>
                                      </p:cBhvr>
                                      <p:to>
                                        <p:strVal val="visible"/>
                                      </p:to>
                                    </p:set>
                                    <p:animEffect filter="fade" transition="in">
                                      <p:cBhvr>
                                        <p:cTn dur="500"/>
                                        <p:tgtEl>
                                          <p:spTgt spid="5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cxnSp>
        <p:nvCxnSpPr>
          <p:cNvPr id="539" name="Google Shape;539;p16"/>
          <p:cNvCxnSpPr/>
          <p:nvPr/>
        </p:nvCxnSpPr>
        <p:spPr>
          <a:xfrm>
            <a:off x="0" y="2870096"/>
            <a:ext cx="12192000" cy="0"/>
          </a:xfrm>
          <a:prstGeom prst="straightConnector1">
            <a:avLst/>
          </a:prstGeom>
          <a:noFill/>
          <a:ln cap="flat" cmpd="sng" w="38100">
            <a:solidFill>
              <a:srgbClr val="D8D8D8"/>
            </a:solidFill>
            <a:prstDash val="solid"/>
            <a:miter lim="800000"/>
            <a:headEnd len="sm" w="sm" type="none"/>
            <a:tailEnd len="sm" w="sm" type="none"/>
          </a:ln>
        </p:spPr>
      </p:cxnSp>
      <p:sp>
        <p:nvSpPr>
          <p:cNvPr id="540" name="Google Shape;540;p16"/>
          <p:cNvSpPr/>
          <p:nvPr/>
        </p:nvSpPr>
        <p:spPr>
          <a:xfrm>
            <a:off x="0" y="0"/>
            <a:ext cx="61341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1" name="Google Shape;541;p16"/>
          <p:cNvSpPr txBox="1"/>
          <p:nvPr/>
        </p:nvSpPr>
        <p:spPr>
          <a:xfrm>
            <a:off x="0" y="365125"/>
            <a:ext cx="613410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23F4F"/>
              </a:buClr>
              <a:buSzPts val="4800"/>
              <a:buFont typeface="Calibri"/>
              <a:buNone/>
            </a:pPr>
            <a:r>
              <a:rPr b="1" i="0" lang="en-US" sz="4800" u="none" cap="none" strike="noStrike">
                <a:solidFill>
                  <a:srgbClr val="323F4F"/>
                </a:solidFill>
                <a:latin typeface="Calibri"/>
                <a:ea typeface="Calibri"/>
                <a:cs typeface="Calibri"/>
                <a:sym typeface="Calibri"/>
              </a:rPr>
              <a:t>NGS Flavors </a:t>
            </a:r>
            <a:r>
              <a:rPr b="1" i="0" lang="en-US" sz="2800" u="none" cap="none" strike="noStrike">
                <a:solidFill>
                  <a:srgbClr val="323F4F"/>
                </a:solidFill>
                <a:latin typeface="Calibri"/>
                <a:ea typeface="Calibri"/>
                <a:cs typeface="Calibri"/>
                <a:sym typeface="Calibri"/>
              </a:rPr>
              <a:t>- nanopore</a:t>
            </a:r>
            <a:endParaRPr b="0" i="0" sz="1400" u="none" cap="none" strike="noStrike">
              <a:solidFill>
                <a:srgbClr val="000000"/>
              </a:solidFill>
              <a:latin typeface="Arial"/>
              <a:ea typeface="Arial"/>
              <a:cs typeface="Arial"/>
              <a:sym typeface="Arial"/>
            </a:endParaRPr>
          </a:p>
        </p:txBody>
      </p:sp>
      <p:grpSp>
        <p:nvGrpSpPr>
          <p:cNvPr id="542" name="Google Shape;542;p16"/>
          <p:cNvGrpSpPr/>
          <p:nvPr/>
        </p:nvGrpSpPr>
        <p:grpSpPr>
          <a:xfrm>
            <a:off x="9715617" y="2864825"/>
            <a:ext cx="1097280" cy="3511873"/>
            <a:chOff x="9715617" y="2864825"/>
            <a:chExt cx="1097280" cy="3511873"/>
          </a:xfrm>
        </p:grpSpPr>
        <p:cxnSp>
          <p:nvCxnSpPr>
            <p:cNvPr id="543" name="Google Shape;543;p16"/>
            <p:cNvCxnSpPr/>
            <p:nvPr/>
          </p:nvCxnSpPr>
          <p:spPr>
            <a:xfrm>
              <a:off x="10264257" y="2864825"/>
              <a:ext cx="0" cy="2743200"/>
            </a:xfrm>
            <a:prstGeom prst="straightConnector1">
              <a:avLst/>
            </a:prstGeom>
            <a:noFill/>
            <a:ln cap="flat" cmpd="sng" w="19050">
              <a:solidFill>
                <a:srgbClr val="D8D8D8"/>
              </a:solidFill>
              <a:prstDash val="solid"/>
              <a:miter lim="800000"/>
              <a:headEnd len="sm" w="sm" type="none"/>
              <a:tailEnd len="sm" w="sm" type="none"/>
            </a:ln>
          </p:spPr>
        </p:cxnSp>
        <p:sp>
          <p:nvSpPr>
            <p:cNvPr id="544" name="Google Shape;544;p16"/>
            <p:cNvSpPr/>
            <p:nvPr/>
          </p:nvSpPr>
          <p:spPr>
            <a:xfrm>
              <a:off x="9715617" y="5279418"/>
              <a:ext cx="1097280" cy="10972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23F4F"/>
                  </a:solidFill>
                  <a:latin typeface="Calibri"/>
                  <a:ea typeface="Calibri"/>
                  <a:cs typeface="Calibri"/>
                  <a:sym typeface="Calibri"/>
                </a:rPr>
                <a:t>minION</a:t>
              </a:r>
              <a:endParaRPr b="1" i="0" sz="1800" u="none" cap="none" strike="noStrike">
                <a:solidFill>
                  <a:srgbClr val="323F4F"/>
                </a:solidFill>
                <a:latin typeface="Calibri"/>
                <a:ea typeface="Calibri"/>
                <a:cs typeface="Calibri"/>
                <a:sym typeface="Calibri"/>
              </a:endParaRPr>
            </a:p>
          </p:txBody>
        </p:sp>
      </p:grpSp>
      <p:sp>
        <p:nvSpPr>
          <p:cNvPr id="545" name="Google Shape;545;p16"/>
          <p:cNvSpPr/>
          <p:nvPr/>
        </p:nvSpPr>
        <p:spPr>
          <a:xfrm>
            <a:off x="10607805" y="4985093"/>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546" name="Google Shape;546;p16"/>
          <p:cNvCxnSpPr/>
          <p:nvPr/>
        </p:nvCxnSpPr>
        <p:spPr>
          <a:xfrm rot="10800000">
            <a:off x="10699245" y="2879150"/>
            <a:ext cx="0" cy="2103120"/>
          </a:xfrm>
          <a:prstGeom prst="straightConnector1">
            <a:avLst/>
          </a:prstGeom>
          <a:noFill/>
          <a:ln cap="flat" cmpd="sng" w="19050">
            <a:solidFill>
              <a:srgbClr val="D8D8D8"/>
            </a:solidFill>
            <a:prstDash val="solid"/>
            <a:miter lim="800000"/>
            <a:headEnd len="sm" w="sm" type="none"/>
            <a:tailEnd len="sm" w="sm" type="none"/>
          </a:ln>
        </p:spPr>
      </p:cxnSp>
      <p:sp>
        <p:nvSpPr>
          <p:cNvPr id="547" name="Google Shape;547;p16"/>
          <p:cNvSpPr/>
          <p:nvPr/>
        </p:nvSpPr>
        <p:spPr>
          <a:xfrm>
            <a:off x="10760766" y="4590407"/>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548" name="Google Shape;548;p16"/>
          <p:cNvCxnSpPr/>
          <p:nvPr/>
        </p:nvCxnSpPr>
        <p:spPr>
          <a:xfrm rot="10800000">
            <a:off x="10852206" y="2875684"/>
            <a:ext cx="0" cy="1737360"/>
          </a:xfrm>
          <a:prstGeom prst="straightConnector1">
            <a:avLst/>
          </a:prstGeom>
          <a:noFill/>
          <a:ln cap="flat" cmpd="sng" w="19050">
            <a:solidFill>
              <a:srgbClr val="D8D8D8"/>
            </a:solidFill>
            <a:prstDash val="solid"/>
            <a:miter lim="800000"/>
            <a:headEnd len="sm" w="sm" type="none"/>
            <a:tailEnd len="sm" w="sm" type="none"/>
          </a:ln>
        </p:spPr>
      </p:cxnSp>
      <p:sp>
        <p:nvSpPr>
          <p:cNvPr id="549" name="Google Shape;549;p16"/>
          <p:cNvSpPr/>
          <p:nvPr/>
        </p:nvSpPr>
        <p:spPr>
          <a:xfrm>
            <a:off x="10908565" y="4245004"/>
            <a:ext cx="182880" cy="182880"/>
          </a:xfrm>
          <a:prstGeom prst="ellipse">
            <a:avLst/>
          </a:prstGeom>
          <a:solidFill>
            <a:schemeClr val="accent2"/>
          </a:solidFill>
          <a:ln cap="flat" cmpd="sng" w="9525">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550" name="Google Shape;550;p16"/>
          <p:cNvCxnSpPr/>
          <p:nvPr/>
        </p:nvCxnSpPr>
        <p:spPr>
          <a:xfrm rot="10800000">
            <a:off x="11000954" y="2873703"/>
            <a:ext cx="0" cy="1371600"/>
          </a:xfrm>
          <a:prstGeom prst="straightConnector1">
            <a:avLst/>
          </a:prstGeom>
          <a:noFill/>
          <a:ln cap="flat" cmpd="sng" w="19050">
            <a:solidFill>
              <a:srgbClr val="D8D8D8"/>
            </a:solidFill>
            <a:prstDash val="solid"/>
            <a:miter lim="800000"/>
            <a:headEnd len="sm" w="sm" type="none"/>
            <a:tailEnd len="sm" w="sm" type="none"/>
          </a:ln>
        </p:spPr>
      </p:cxnSp>
      <p:pic>
        <p:nvPicPr>
          <p:cNvPr id="551" name="Google Shape;551;p16"/>
          <p:cNvPicPr preferRelativeResize="0"/>
          <p:nvPr/>
        </p:nvPicPr>
        <p:blipFill rotWithShape="1">
          <a:blip r:embed="rId3">
            <a:alphaModFix/>
          </a:blip>
          <a:srcRect b="0" l="0" r="0" t="0"/>
          <a:stretch/>
        </p:blipFill>
        <p:spPr>
          <a:xfrm>
            <a:off x="-45001" y="1037108"/>
            <a:ext cx="6232109" cy="5924892"/>
          </a:xfrm>
          <a:prstGeom prst="rect">
            <a:avLst/>
          </a:prstGeom>
          <a:noFill/>
          <a:ln>
            <a:noFill/>
          </a:ln>
        </p:spPr>
      </p:pic>
      <p:pic>
        <p:nvPicPr>
          <p:cNvPr id="552" name="Google Shape;552;p16"/>
          <p:cNvPicPr preferRelativeResize="0"/>
          <p:nvPr/>
        </p:nvPicPr>
        <p:blipFill rotWithShape="1">
          <a:blip r:embed="rId4">
            <a:alphaModFix/>
          </a:blip>
          <a:srcRect b="13606" l="26701" r="15358" t="10667"/>
          <a:stretch/>
        </p:blipFill>
        <p:spPr>
          <a:xfrm>
            <a:off x="6262590" y="97118"/>
            <a:ext cx="2829155" cy="2468880"/>
          </a:xfrm>
          <a:prstGeom prst="rect">
            <a:avLst/>
          </a:prstGeom>
          <a:noFill/>
          <a:ln>
            <a:noFill/>
          </a:ln>
        </p:spPr>
      </p:pic>
      <p:pic>
        <p:nvPicPr>
          <p:cNvPr descr="MinION portable DNA sequencer" id="553" name="Google Shape;553;p16"/>
          <p:cNvPicPr preferRelativeResize="0"/>
          <p:nvPr/>
        </p:nvPicPr>
        <p:blipFill rotWithShape="1">
          <a:blip r:embed="rId5">
            <a:alphaModFix/>
          </a:blip>
          <a:srcRect b="9868" l="22249" r="24812" t="8075"/>
          <a:stretch/>
        </p:blipFill>
        <p:spPr>
          <a:xfrm>
            <a:off x="9219152" y="97118"/>
            <a:ext cx="2856803" cy="2468880"/>
          </a:xfrm>
          <a:prstGeom prst="rect">
            <a:avLst/>
          </a:prstGeom>
          <a:noFill/>
          <a:ln>
            <a:noFill/>
          </a:ln>
        </p:spPr>
      </p:pic>
      <p:sp>
        <p:nvSpPr>
          <p:cNvPr id="554" name="Google Shape;554;p16"/>
          <p:cNvSpPr txBox="1"/>
          <p:nvPr/>
        </p:nvSpPr>
        <p:spPr>
          <a:xfrm>
            <a:off x="6100660" y="6530662"/>
            <a:ext cx="337964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3 days, 13-20kb reads, 700 Mb/h</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500"/>
                                        <p:tgtEl>
                                          <p:spTgt spid="545"/>
                                        </p:tgtEl>
                                      </p:cBhvr>
                                    </p:animEffect>
                                    <p:set>
                                      <p:cBhvr>
                                        <p:cTn dur="1" fill="hold">
                                          <p:stCondLst>
                                            <p:cond delay="500"/>
                                          </p:stCondLst>
                                        </p:cTn>
                                        <p:tgtEl>
                                          <p:spTgt spid="54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46"/>
                                        </p:tgtEl>
                                      </p:cBhvr>
                                    </p:animEffect>
                                    <p:set>
                                      <p:cBhvr>
                                        <p:cTn dur="1" fill="hold">
                                          <p:stCondLst>
                                            <p:cond delay="500"/>
                                          </p:stCondLst>
                                        </p:cTn>
                                        <p:tgtEl>
                                          <p:spTgt spid="54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49"/>
                                        </p:tgtEl>
                                      </p:cBhvr>
                                    </p:animEffect>
                                    <p:set>
                                      <p:cBhvr>
                                        <p:cTn dur="1" fill="hold">
                                          <p:stCondLst>
                                            <p:cond delay="500"/>
                                          </p:stCondLst>
                                        </p:cTn>
                                        <p:tgtEl>
                                          <p:spTgt spid="54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50"/>
                                        </p:tgtEl>
                                      </p:cBhvr>
                                    </p:animEffect>
                                    <p:set>
                                      <p:cBhvr>
                                        <p:cTn dur="1" fill="hold">
                                          <p:stCondLst>
                                            <p:cond delay="500"/>
                                          </p:stCondLst>
                                        </p:cTn>
                                        <p:tgtEl>
                                          <p:spTgt spid="55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48"/>
                                        </p:tgtEl>
                                      </p:cBhvr>
                                    </p:animEffect>
                                    <p:set>
                                      <p:cBhvr>
                                        <p:cTn dur="1" fill="hold">
                                          <p:stCondLst>
                                            <p:cond delay="500"/>
                                          </p:stCondLst>
                                        </p:cTn>
                                        <p:tgtEl>
                                          <p:spTgt spid="54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47"/>
                                        </p:tgtEl>
                                      </p:cBhvr>
                                    </p:animEffect>
                                    <p:set>
                                      <p:cBhvr>
                                        <p:cTn dur="1" fill="hold">
                                          <p:stCondLst>
                                            <p:cond delay="500"/>
                                          </p:stCondLst>
                                        </p:cTn>
                                        <p:tgtEl>
                                          <p:spTgt spid="5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500"/>
                                        <p:tgtEl>
                                          <p:spTgt spid="5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500"/>
                                        <p:tgtEl>
                                          <p:spTgt spid="5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pic>
        <p:nvPicPr>
          <p:cNvPr id="559" name="Google Shape;559;p17"/>
          <p:cNvPicPr preferRelativeResize="0"/>
          <p:nvPr/>
        </p:nvPicPr>
        <p:blipFill rotWithShape="1">
          <a:blip r:embed="rId3">
            <a:alphaModFix/>
          </a:blip>
          <a:srcRect b="3311" l="2262" r="3137" t="2935"/>
          <a:stretch/>
        </p:blipFill>
        <p:spPr>
          <a:xfrm>
            <a:off x="6241143" y="981957"/>
            <a:ext cx="5820230" cy="4798357"/>
          </a:xfrm>
          <a:prstGeom prst="rect">
            <a:avLst/>
          </a:prstGeom>
          <a:noFill/>
          <a:ln>
            <a:noFill/>
          </a:ln>
        </p:spPr>
      </p:pic>
      <p:pic>
        <p:nvPicPr>
          <p:cNvPr id="560" name="Google Shape;560;p17"/>
          <p:cNvPicPr preferRelativeResize="0"/>
          <p:nvPr/>
        </p:nvPicPr>
        <p:blipFill rotWithShape="1">
          <a:blip r:embed="rId4">
            <a:alphaModFix/>
          </a:blip>
          <a:srcRect b="3284" l="1862" r="2235" t="1194"/>
          <a:stretch/>
        </p:blipFill>
        <p:spPr>
          <a:xfrm>
            <a:off x="125185" y="972457"/>
            <a:ext cx="5979887" cy="480785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pic>
        <p:nvPicPr>
          <p:cNvPr id="565" name="Google Shape;565;p18"/>
          <p:cNvPicPr preferRelativeResize="0"/>
          <p:nvPr/>
        </p:nvPicPr>
        <p:blipFill rotWithShape="1">
          <a:blip r:embed="rId3">
            <a:alphaModFix/>
          </a:blip>
          <a:srcRect b="15066" l="55224" r="0" t="45108"/>
          <a:stretch/>
        </p:blipFill>
        <p:spPr>
          <a:xfrm>
            <a:off x="7220642" y="939255"/>
            <a:ext cx="3933798" cy="4979489"/>
          </a:xfrm>
          <a:prstGeom prst="rect">
            <a:avLst/>
          </a:prstGeom>
          <a:noFill/>
          <a:ln>
            <a:noFill/>
          </a:ln>
        </p:spPr>
      </p:pic>
      <p:sp>
        <p:nvSpPr>
          <p:cNvPr id="566" name="Google Shape;56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Applications</a:t>
            </a:r>
            <a:endParaRPr/>
          </a:p>
        </p:txBody>
      </p:sp>
      <p:sp>
        <p:nvSpPr>
          <p:cNvPr id="567" name="Google Shape;567;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rPr lang="en-US">
                <a:solidFill>
                  <a:schemeClr val="lt1"/>
                </a:solidFill>
              </a:rPr>
              <a:t>Epigenetics – WGBS, Chip-Seq</a:t>
            </a:r>
            <a:endParaRPr/>
          </a:p>
          <a:p>
            <a:pPr indent="0" lvl="0" marL="0" rtl="0" algn="l">
              <a:lnSpc>
                <a:spcPct val="90000"/>
              </a:lnSpc>
              <a:spcBef>
                <a:spcPts val="1000"/>
              </a:spcBef>
              <a:spcAft>
                <a:spcPts val="0"/>
              </a:spcAft>
              <a:buClr>
                <a:schemeClr val="lt1"/>
              </a:buClr>
              <a:buSzPts val="2800"/>
              <a:buNone/>
            </a:pPr>
            <a:r>
              <a:rPr lang="en-US">
                <a:solidFill>
                  <a:schemeClr val="lt1"/>
                </a:solidFill>
              </a:rPr>
              <a:t>Personalized/Precision Medicine</a:t>
            </a:r>
            <a:endParaRPr/>
          </a:p>
          <a:p>
            <a:pPr indent="-228600" lvl="1" marL="685800" rtl="0" algn="l">
              <a:lnSpc>
                <a:spcPct val="90000"/>
              </a:lnSpc>
              <a:spcBef>
                <a:spcPts val="500"/>
              </a:spcBef>
              <a:spcAft>
                <a:spcPts val="0"/>
              </a:spcAft>
              <a:buClr>
                <a:schemeClr val="lt1"/>
              </a:buClr>
              <a:buSzPts val="2400"/>
              <a:buChar char="•"/>
            </a:pPr>
            <a:r>
              <a:rPr lang="en-US">
                <a:solidFill>
                  <a:schemeClr val="lt1"/>
                </a:solidFill>
              </a:rPr>
              <a:t>Drug metabolism - CYP2D6</a:t>
            </a:r>
            <a:endParaRPr/>
          </a:p>
          <a:p>
            <a:pPr indent="-228600" lvl="1" marL="685800" rtl="0" algn="l">
              <a:lnSpc>
                <a:spcPct val="90000"/>
              </a:lnSpc>
              <a:spcBef>
                <a:spcPts val="500"/>
              </a:spcBef>
              <a:spcAft>
                <a:spcPts val="0"/>
              </a:spcAft>
              <a:buClr>
                <a:schemeClr val="lt1"/>
              </a:buClr>
              <a:buSzPts val="2400"/>
              <a:buChar char="•"/>
            </a:pPr>
            <a:r>
              <a:rPr lang="en-US">
                <a:solidFill>
                  <a:schemeClr val="lt1"/>
                </a:solidFill>
              </a:rPr>
              <a:t>Organ transplants -  HLA </a:t>
            </a:r>
            <a:endParaRPr/>
          </a:p>
          <a:p>
            <a:pPr indent="-228600" lvl="1" marL="685800" rtl="0" algn="l">
              <a:lnSpc>
                <a:spcPct val="90000"/>
              </a:lnSpc>
              <a:spcBef>
                <a:spcPts val="500"/>
              </a:spcBef>
              <a:spcAft>
                <a:spcPts val="0"/>
              </a:spcAft>
              <a:buClr>
                <a:schemeClr val="lt1"/>
              </a:buClr>
              <a:buSzPts val="2400"/>
              <a:buChar char="•"/>
            </a:pPr>
            <a:r>
              <a:rPr lang="en-US">
                <a:solidFill>
                  <a:schemeClr val="lt1"/>
                </a:solidFill>
              </a:rPr>
              <a:t>Prenatal testing</a:t>
            </a:r>
            <a:endParaRPr/>
          </a:p>
          <a:p>
            <a:pPr indent="0" lvl="0" marL="0" rtl="0" algn="l">
              <a:lnSpc>
                <a:spcPct val="90000"/>
              </a:lnSpc>
              <a:spcBef>
                <a:spcPts val="1000"/>
              </a:spcBef>
              <a:spcAft>
                <a:spcPts val="0"/>
              </a:spcAft>
              <a:buClr>
                <a:schemeClr val="lt1"/>
              </a:buClr>
              <a:buSzPts val="2800"/>
              <a:buNone/>
            </a:pPr>
            <a:r>
              <a:rPr lang="en-US">
                <a:solidFill>
                  <a:schemeClr val="lt1"/>
                </a:solidFill>
              </a:rPr>
              <a:t>Forensic Science</a:t>
            </a:r>
            <a:endParaRPr/>
          </a:p>
          <a:p>
            <a:pPr indent="-228600" lvl="1" marL="685800" rtl="0" algn="l">
              <a:lnSpc>
                <a:spcPct val="90000"/>
              </a:lnSpc>
              <a:spcBef>
                <a:spcPts val="500"/>
              </a:spcBef>
              <a:spcAft>
                <a:spcPts val="0"/>
              </a:spcAft>
              <a:buClr>
                <a:schemeClr val="lt1"/>
              </a:buClr>
              <a:buSzPts val="2400"/>
              <a:buChar char="•"/>
            </a:pPr>
            <a:r>
              <a:rPr lang="en-US">
                <a:solidFill>
                  <a:schemeClr val="lt1"/>
                </a:solidFill>
              </a:rPr>
              <a:t>Mystery meat!</a:t>
            </a:r>
            <a:endParaRPr/>
          </a:p>
          <a:p>
            <a:pPr indent="-228600" lvl="1" marL="685800" rtl="0" algn="l">
              <a:lnSpc>
                <a:spcPct val="90000"/>
              </a:lnSpc>
              <a:spcBef>
                <a:spcPts val="500"/>
              </a:spcBef>
              <a:spcAft>
                <a:spcPts val="0"/>
              </a:spcAft>
              <a:buClr>
                <a:schemeClr val="lt1"/>
              </a:buClr>
              <a:buSzPts val="2400"/>
              <a:buChar char="•"/>
            </a:pPr>
            <a:r>
              <a:rPr lang="en-US">
                <a:solidFill>
                  <a:schemeClr val="lt1"/>
                </a:solidFill>
              </a:rPr>
              <a:t>Traditional Chinese Medicine</a:t>
            </a:r>
            <a:endParaRPr/>
          </a:p>
          <a:p>
            <a:pPr indent="-228600" lvl="1" marL="685800" rtl="0" algn="l">
              <a:lnSpc>
                <a:spcPct val="90000"/>
              </a:lnSpc>
              <a:spcBef>
                <a:spcPts val="500"/>
              </a:spcBef>
              <a:spcAft>
                <a:spcPts val="0"/>
              </a:spcAft>
              <a:buClr>
                <a:schemeClr val="lt1"/>
              </a:buClr>
              <a:buSzPts val="2400"/>
              <a:buChar char="•"/>
            </a:pPr>
            <a:r>
              <a:rPr lang="en-US">
                <a:solidFill>
                  <a:schemeClr val="lt1"/>
                </a:solidFill>
              </a:rPr>
              <a:t>Soil metagenomes</a:t>
            </a:r>
            <a:endParaRPr/>
          </a:p>
          <a:p>
            <a:pPr indent="0" lvl="0" marL="0" rtl="0" algn="l">
              <a:lnSpc>
                <a:spcPct val="90000"/>
              </a:lnSpc>
              <a:spcBef>
                <a:spcPts val="1000"/>
              </a:spcBef>
              <a:spcAft>
                <a:spcPts val="0"/>
              </a:spcAft>
              <a:buClr>
                <a:schemeClr val="dk1"/>
              </a:buClr>
              <a:buSzPts val="2800"/>
              <a:buNone/>
            </a:pPr>
            <a:r>
              <a:t/>
            </a:r>
            <a:endParaRPr>
              <a:solidFill>
                <a:schemeClr val="lt1"/>
              </a:solidFill>
            </a:endParaRPr>
          </a:p>
          <a:p>
            <a:pPr indent="-50800" lvl="0" marL="228600" rtl="0" algn="l">
              <a:lnSpc>
                <a:spcPct val="90000"/>
              </a:lnSpc>
              <a:spcBef>
                <a:spcPts val="1000"/>
              </a:spcBef>
              <a:spcAft>
                <a:spcPts val="0"/>
              </a:spcAft>
              <a:buClr>
                <a:schemeClr val="dk1"/>
              </a:buClr>
              <a:buSzPts val="2800"/>
              <a:buNone/>
            </a:pPr>
            <a:r>
              <a:t/>
            </a:r>
            <a:endParaRPr>
              <a:solidFill>
                <a:schemeClr val="lt1"/>
              </a:solidFill>
            </a:endParaRPr>
          </a:p>
          <a:p>
            <a:pPr indent="-50800" lvl="0" marL="228600" rtl="0" algn="l">
              <a:lnSpc>
                <a:spcPct val="90000"/>
              </a:lnSpc>
              <a:spcBef>
                <a:spcPts val="1000"/>
              </a:spcBef>
              <a:spcAft>
                <a:spcPts val="0"/>
              </a:spcAft>
              <a:buClr>
                <a:schemeClr val="dk1"/>
              </a:buClr>
              <a:buSzPts val="2800"/>
              <a:buNone/>
            </a:pPr>
            <a:r>
              <a:t/>
            </a:r>
            <a:endParaRPr/>
          </a:p>
        </p:txBody>
      </p:sp>
      <p:pic>
        <p:nvPicPr>
          <p:cNvPr id="568" name="Google Shape;568;p18"/>
          <p:cNvPicPr preferRelativeResize="0"/>
          <p:nvPr/>
        </p:nvPicPr>
        <p:blipFill rotWithShape="1">
          <a:blip r:embed="rId4">
            <a:alphaModFix/>
          </a:blip>
          <a:srcRect b="0" l="0" r="0" t="0"/>
          <a:stretch/>
        </p:blipFill>
        <p:spPr>
          <a:xfrm>
            <a:off x="6458856" y="939255"/>
            <a:ext cx="5457371" cy="497948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500"/>
                                        <p:tgtEl>
                                          <p:spTgt spid="5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8"/>
                                        </p:tgtEl>
                                        <p:attrNameLst>
                                          <p:attrName>style.visibility</p:attrName>
                                        </p:attrNameLst>
                                      </p:cBhvr>
                                      <p:to>
                                        <p:strVal val="visible"/>
                                      </p:to>
                                    </p:set>
                                    <p:animEffect filter="fade" transition="in">
                                      <p:cBhvr>
                                        <p:cTn dur="500"/>
                                        <p:tgtEl>
                                          <p:spTgt spid="5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19"/>
          <p:cNvSpPr/>
          <p:nvPr/>
        </p:nvSpPr>
        <p:spPr>
          <a:xfrm rot="10800000">
            <a:off x="491652" y="2113595"/>
            <a:ext cx="5623916" cy="4144596"/>
          </a:xfrm>
          <a:prstGeom prst="downArrow">
            <a:avLst>
              <a:gd fmla="val 50000" name="adj1"/>
              <a:gd fmla="val 50000" name="adj2"/>
            </a:avLst>
          </a:prstGeom>
          <a:solidFill>
            <a:srgbClr val="FFFD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4" name="Google Shape;574;p19"/>
          <p:cNvSpPr txBox="1"/>
          <p:nvPr>
            <p:ph type="title"/>
          </p:nvPr>
        </p:nvSpPr>
        <p:spPr>
          <a:xfrm>
            <a:off x="838200" y="35127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DF2"/>
              </a:buClr>
              <a:buSzPts val="4800"/>
              <a:buFont typeface="Calibri"/>
              <a:buNone/>
            </a:pPr>
            <a:r>
              <a:rPr b="1" lang="en-US" sz="4800">
                <a:solidFill>
                  <a:srgbClr val="FFFDF2"/>
                </a:solidFill>
              </a:rPr>
              <a:t>Next Generation Sequencing</a:t>
            </a:r>
            <a:endParaRPr/>
          </a:p>
        </p:txBody>
      </p:sp>
      <p:sp>
        <p:nvSpPr>
          <p:cNvPr id="575" name="Google Shape;575;p19"/>
          <p:cNvSpPr/>
          <p:nvPr/>
        </p:nvSpPr>
        <p:spPr>
          <a:xfrm>
            <a:off x="6134100" y="2113595"/>
            <a:ext cx="5623916" cy="4144596"/>
          </a:xfrm>
          <a:prstGeom prst="downArrow">
            <a:avLst>
              <a:gd fmla="val 50000" name="adj1"/>
              <a:gd fmla="val 50000" name="adj2"/>
            </a:avLst>
          </a:prstGeom>
          <a:solidFill>
            <a:srgbClr val="FFFD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6" name="Google Shape;576;p19"/>
          <p:cNvSpPr txBox="1"/>
          <p:nvPr/>
        </p:nvSpPr>
        <p:spPr>
          <a:xfrm>
            <a:off x="8437938" y="3846285"/>
            <a:ext cx="101624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002060"/>
                </a:solidFill>
                <a:latin typeface="Calibri"/>
                <a:ea typeface="Calibri"/>
                <a:cs typeface="Calibri"/>
                <a:sym typeface="Calibri"/>
              </a:rPr>
              <a:t>Cost</a:t>
            </a:r>
            <a:endParaRPr b="0" i="0" sz="1400" u="none" cap="none" strike="noStrike">
              <a:solidFill>
                <a:srgbClr val="000000"/>
              </a:solidFill>
              <a:latin typeface="Arial"/>
              <a:ea typeface="Arial"/>
              <a:cs typeface="Arial"/>
              <a:sym typeface="Arial"/>
            </a:endParaRPr>
          </a:p>
        </p:txBody>
      </p:sp>
      <p:sp>
        <p:nvSpPr>
          <p:cNvPr id="577" name="Google Shape;577;p19"/>
          <p:cNvSpPr txBox="1"/>
          <p:nvPr/>
        </p:nvSpPr>
        <p:spPr>
          <a:xfrm>
            <a:off x="8378435" y="4357019"/>
            <a:ext cx="113524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002060"/>
                </a:solidFill>
                <a:latin typeface="Calibri"/>
                <a:ea typeface="Calibri"/>
                <a:cs typeface="Calibri"/>
                <a:sym typeface="Calibri"/>
              </a:rPr>
              <a:t>Time</a:t>
            </a:r>
            <a:endParaRPr b="0" i="0" sz="1400" u="none" cap="none" strike="noStrike">
              <a:solidFill>
                <a:srgbClr val="000000"/>
              </a:solidFill>
              <a:latin typeface="Arial"/>
              <a:ea typeface="Arial"/>
              <a:cs typeface="Arial"/>
              <a:sym typeface="Arial"/>
            </a:endParaRPr>
          </a:p>
        </p:txBody>
      </p:sp>
      <p:sp>
        <p:nvSpPr>
          <p:cNvPr id="578" name="Google Shape;578;p19"/>
          <p:cNvSpPr txBox="1"/>
          <p:nvPr/>
        </p:nvSpPr>
        <p:spPr>
          <a:xfrm>
            <a:off x="2429011" y="5087216"/>
            <a:ext cx="1749197"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Accessibility</a:t>
            </a:r>
            <a:endParaRPr b="0" i="0" sz="1400" u="none" cap="none" strike="noStrike">
              <a:solidFill>
                <a:srgbClr val="000000"/>
              </a:solidFill>
              <a:latin typeface="Arial"/>
              <a:ea typeface="Arial"/>
              <a:cs typeface="Arial"/>
              <a:sym typeface="Arial"/>
            </a:endParaRPr>
          </a:p>
        </p:txBody>
      </p:sp>
      <p:sp>
        <p:nvSpPr>
          <p:cNvPr id="579" name="Google Shape;579;p19"/>
          <p:cNvSpPr txBox="1"/>
          <p:nvPr/>
        </p:nvSpPr>
        <p:spPr>
          <a:xfrm>
            <a:off x="2050510" y="3744020"/>
            <a:ext cx="250619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Sequencing Depth</a:t>
            </a:r>
            <a:endParaRPr b="0" i="0" sz="1400" u="none" cap="none" strike="noStrike">
              <a:solidFill>
                <a:srgbClr val="000000"/>
              </a:solidFill>
              <a:latin typeface="Arial"/>
              <a:ea typeface="Arial"/>
              <a:cs typeface="Arial"/>
              <a:sym typeface="Arial"/>
            </a:endParaRPr>
          </a:p>
        </p:txBody>
      </p:sp>
      <p:sp>
        <p:nvSpPr>
          <p:cNvPr id="580" name="Google Shape;580;p19"/>
          <p:cNvSpPr txBox="1"/>
          <p:nvPr/>
        </p:nvSpPr>
        <p:spPr>
          <a:xfrm>
            <a:off x="1864882" y="3072422"/>
            <a:ext cx="287745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Sequencing Precision</a:t>
            </a:r>
            <a:endParaRPr b="0" i="0" sz="1400" u="none" cap="none" strike="noStrike">
              <a:solidFill>
                <a:srgbClr val="000000"/>
              </a:solidFill>
              <a:latin typeface="Arial"/>
              <a:ea typeface="Arial"/>
              <a:cs typeface="Arial"/>
              <a:sym typeface="Arial"/>
            </a:endParaRPr>
          </a:p>
        </p:txBody>
      </p:sp>
      <p:sp>
        <p:nvSpPr>
          <p:cNvPr id="581" name="Google Shape;581;p19"/>
          <p:cNvSpPr txBox="1"/>
          <p:nvPr/>
        </p:nvSpPr>
        <p:spPr>
          <a:xfrm>
            <a:off x="1847217" y="4415618"/>
            <a:ext cx="291278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Bioinformatic Burden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74"/>
                                        </p:tgtEl>
                                      </p:cBhvr>
                                    </p:animEffect>
                                    <p:set>
                                      <p:cBhvr>
                                        <p:cTn dur="1" fill="hold">
                                          <p:stCondLst>
                                            <p:cond delay="500"/>
                                          </p:stCondLst>
                                        </p:cTn>
                                        <p:tgtEl>
                                          <p:spTgt spid="57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2020-02-25T15:54:34Z</dcterms:created>
  <dc:creator>Nicole Garrison</dc:creator>
</cp:coreProperties>
</file>