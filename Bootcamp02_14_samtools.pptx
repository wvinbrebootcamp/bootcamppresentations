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20" roundtripDataSignature="AMtx7mhxJjXm/XB1jZprVuuUCY5QvBFn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3453bbc90c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13453bbc90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3453bbc90c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13453bbc90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3453bbc90c_0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13453bbc90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3453bbc90c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13453bbc90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3453bbc90c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13453bbc90c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3453bbc90c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3453bbc90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3453bbc90c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3453bbc90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US" sz="6000"/>
              <a:t>samtools</a:t>
            </a:r>
            <a:endParaRPr b="1" sz="6000"/>
          </a:p>
        </p:txBody>
      </p:sp>
      <p:sp>
        <p:nvSpPr>
          <p:cNvPr id="85" name="Google Shape;85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 find help just type samtools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also: samtools --help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has a variety of subcommands…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 get samtools to work you need to give it a subcommand:</a:t>
            </a:r>
            <a:endParaRPr/>
          </a:p>
          <a:p>
            <a:pPr indent="0" lvl="1" marL="4572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/>
              <a:t>samtools  </a:t>
            </a:r>
            <a:r>
              <a:rPr b="1" i="1" lang="en-US">
                <a:solidFill>
                  <a:srgbClr val="757070"/>
                </a:solidFill>
              </a:rPr>
              <a:t>subcommand  &lt;filename&gt;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lang="en-US" sz="5400"/>
              <a:t>samtools view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	samtools view -S -b sample.sam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	samtools view -S -b sample.sam &gt; sample.bam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Now, we can use the samtools view command to convert the BAM to SAM so we mere mortals can read it.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	samtools view sample.bam | head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lang="en-US" sz="5400"/>
              <a:t>samtools sort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when you align a fastq the output will be in the order of sequence input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if we want our sequences arranged by genomic order we must sort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	samtools view sample.bam | head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	samtools sort sample.bam -o sample.sorted.bam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check the order: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	samtools view sample.sorted.bam | head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Notice anything different about the coordinates of the alignments?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lang="en-US" sz="5400"/>
              <a:t>samtools index</a:t>
            </a: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indexing is required by genome viewers such as IGV so that the viewers can quickly display alignments in each genomic region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	samtools index sample.sorted.bam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	samtools view sample.sorted.bam refname:lower-upper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1983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/opt/samtools-1.11/samtools view</a:t>
            </a:r>
            <a:r>
              <a:rPr b="1" lang="en-US" sz="1983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1" lang="en-US" sz="1983">
                <a:latin typeface="Courier New"/>
                <a:ea typeface="Courier New"/>
                <a:cs typeface="Courier New"/>
                <a:sym typeface="Courier New"/>
              </a:rPr>
              <a:t>sample</a:t>
            </a:r>
            <a:r>
              <a:rPr b="1" lang="en-US" sz="1983">
                <a:latin typeface="Courier New"/>
                <a:ea typeface="Courier New"/>
                <a:cs typeface="Courier New"/>
                <a:sym typeface="Courier New"/>
              </a:rPr>
              <a:t>.bam NC_045512.2:300-350</a:t>
            </a:r>
            <a:endParaRPr b="1" sz="1983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How many alignments are there in this region?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BAM header</a:t>
            </a:r>
            <a:endParaRPr/>
          </a:p>
        </p:txBody>
      </p:sp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samtools view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 -H </a:t>
            </a:r>
            <a:r>
              <a:rPr b="1" i="1" lang="en-US">
                <a:latin typeface="Courier New"/>
                <a:ea typeface="Courier New"/>
                <a:cs typeface="Courier New"/>
                <a:sym typeface="Courier New"/>
              </a:rPr>
              <a:t>sample.bam</a:t>
            </a:r>
            <a:endParaRPr b="1" i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**if we wanted to only view the header information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3453bbc90c_0_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SAM/BAM data fields (columns)</a:t>
            </a:r>
            <a:endParaRPr/>
          </a:p>
        </p:txBody>
      </p:sp>
      <p:pic>
        <p:nvPicPr>
          <p:cNvPr id="115" name="Google Shape;115;g13453bbc90c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100" y="2007321"/>
            <a:ext cx="11353800" cy="35996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3453bbc90c_0_1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FLAGs</a:t>
            </a:r>
            <a:endParaRPr sz="4800"/>
          </a:p>
        </p:txBody>
      </p:sp>
      <p:pic>
        <p:nvPicPr>
          <p:cNvPr id="121" name="Google Shape;121;g13453bbc90c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43225"/>
            <a:ext cx="11887200" cy="4505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3453bbc90c_0_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FLAGs</a:t>
            </a:r>
            <a:endParaRPr sz="4800"/>
          </a:p>
        </p:txBody>
      </p:sp>
      <p:pic>
        <p:nvPicPr>
          <p:cNvPr id="127" name="Google Shape;127;g13453bbc90c_0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43225"/>
            <a:ext cx="11887200" cy="4505498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13453bbc90c_0_19"/>
          <p:cNvSpPr txBox="1"/>
          <p:nvPr/>
        </p:nvSpPr>
        <p:spPr>
          <a:xfrm>
            <a:off x="8053800" y="473875"/>
            <a:ext cx="3505500" cy="1108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peek at end of bam…</a:t>
            </a:r>
            <a:endParaRPr b="1"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77?</a:t>
            </a:r>
            <a:endParaRPr b="1" sz="2000">
              <a:solidFill>
                <a:srgbClr val="98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141?</a:t>
            </a:r>
            <a:endParaRPr b="1" sz="2000">
              <a:solidFill>
                <a:srgbClr val="98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3453bbc90c_0_2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FLAGs</a:t>
            </a:r>
            <a:endParaRPr sz="4800"/>
          </a:p>
        </p:txBody>
      </p:sp>
      <p:pic>
        <p:nvPicPr>
          <p:cNvPr id="134" name="Google Shape;134;g13453bbc90c_0_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43225"/>
            <a:ext cx="11887200" cy="4505498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g13453bbc90c_0_25"/>
          <p:cNvSpPr txBox="1"/>
          <p:nvPr/>
        </p:nvSpPr>
        <p:spPr>
          <a:xfrm>
            <a:off x="8053800" y="473875"/>
            <a:ext cx="3505500" cy="1108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peek at end of bam…</a:t>
            </a:r>
            <a:endParaRPr b="1"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77?</a:t>
            </a:r>
            <a:endParaRPr b="1" sz="2000">
              <a:solidFill>
                <a:srgbClr val="98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141?</a:t>
            </a:r>
            <a:endParaRPr b="1" sz="2000">
              <a:solidFill>
                <a:srgbClr val="98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13453bbc90c_0_25"/>
          <p:cNvSpPr/>
          <p:nvPr/>
        </p:nvSpPr>
        <p:spPr>
          <a:xfrm>
            <a:off x="603025" y="2412050"/>
            <a:ext cx="8575200" cy="316800"/>
          </a:xfrm>
          <a:prstGeom prst="roundRect">
            <a:avLst>
              <a:gd fmla="val 16667" name="adj"/>
            </a:avLst>
          </a:prstGeom>
          <a:solidFill>
            <a:srgbClr val="000000">
              <a:alpha val="0"/>
            </a:srgbClr>
          </a:solidFill>
          <a:ln cap="flat" cmpd="sng" w="2857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37" name="Google Shape;137;g13453bbc90c_0_25"/>
          <p:cNvSpPr/>
          <p:nvPr/>
        </p:nvSpPr>
        <p:spPr>
          <a:xfrm>
            <a:off x="603025" y="3034600"/>
            <a:ext cx="8575200" cy="316800"/>
          </a:xfrm>
          <a:prstGeom prst="roundRect">
            <a:avLst>
              <a:gd fmla="val 16667" name="adj"/>
            </a:avLst>
          </a:prstGeom>
          <a:solidFill>
            <a:srgbClr val="000000">
              <a:alpha val="0"/>
            </a:srgbClr>
          </a:solidFill>
          <a:ln cap="flat" cmpd="sng" w="2857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38" name="Google Shape;138;g13453bbc90c_0_25"/>
          <p:cNvSpPr/>
          <p:nvPr/>
        </p:nvSpPr>
        <p:spPr>
          <a:xfrm>
            <a:off x="603025" y="3351400"/>
            <a:ext cx="8575200" cy="316800"/>
          </a:xfrm>
          <a:prstGeom prst="roundRect">
            <a:avLst>
              <a:gd fmla="val 16667" name="adj"/>
            </a:avLst>
          </a:prstGeom>
          <a:solidFill>
            <a:srgbClr val="000000">
              <a:alpha val="0"/>
            </a:srgbClr>
          </a:solidFill>
          <a:ln cap="flat" cmpd="sng" w="2857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39" name="Google Shape;139;g13453bbc90c_0_25"/>
          <p:cNvSpPr/>
          <p:nvPr/>
        </p:nvSpPr>
        <p:spPr>
          <a:xfrm>
            <a:off x="603025" y="4290750"/>
            <a:ext cx="8575200" cy="316800"/>
          </a:xfrm>
          <a:prstGeom prst="roundRect">
            <a:avLst>
              <a:gd fmla="val 16667" name="adj"/>
            </a:avLst>
          </a:prstGeom>
          <a:solidFill>
            <a:srgbClr val="000000">
              <a:alpha val="0"/>
            </a:srgbClr>
          </a:solidFill>
          <a:ln cap="flat" cmpd="sng" w="2857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Capture the FLAG</a:t>
            </a:r>
            <a:endParaRPr/>
          </a:p>
        </p:txBody>
      </p:sp>
      <p:sp>
        <p:nvSpPr>
          <p:cNvPr id="145" name="Google Shape;145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4042" lvl="0" marL="457200" rtl="0" algn="l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SzPts val="2763"/>
              <a:buChar char="•"/>
            </a:pPr>
            <a:r>
              <a:rPr lang="en-US" sz="2762"/>
              <a:t>we often want to call variants solely from paired-end sequences that aligned “properly” to the reference genome…</a:t>
            </a:r>
            <a:endParaRPr sz="2762"/>
          </a:p>
          <a:p>
            <a:pPr indent="0" lvl="0" marL="0" rtl="0" algn="l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762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-US" sz="2762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samtools view</a:t>
            </a:r>
            <a:r>
              <a:rPr b="1" lang="en-US" sz="2762">
                <a:latin typeface="Courier New"/>
                <a:ea typeface="Courier New"/>
                <a:cs typeface="Courier New"/>
                <a:sym typeface="Courier New"/>
              </a:rPr>
              <a:t> -f 0x2 sample.sorted.bam</a:t>
            </a:r>
            <a:endParaRPr b="1" sz="2762">
              <a:latin typeface="Courier New"/>
              <a:ea typeface="Courier New"/>
              <a:cs typeface="Courier New"/>
              <a:sym typeface="Courier New"/>
            </a:endParaRPr>
          </a:p>
          <a:p>
            <a:pPr indent="-295330" lvl="0" marL="228600" rtl="0" algn="l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63"/>
              <a:buChar char="•"/>
            </a:pPr>
            <a:r>
              <a:rPr lang="en-US" sz="2862"/>
              <a:t>How many </a:t>
            </a:r>
            <a:r>
              <a:rPr i="1" lang="en-US" sz="2862"/>
              <a:t>properly</a:t>
            </a:r>
            <a:r>
              <a:rPr lang="en-US" sz="2862"/>
              <a:t> paired alignments are there?</a:t>
            </a:r>
            <a:endParaRPr sz="2762"/>
          </a:p>
          <a:p>
            <a:pPr indent="0" lvl="0" marL="0" rtl="0" algn="l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762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-US" sz="2762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samtools view</a:t>
            </a:r>
            <a:r>
              <a:rPr b="1" lang="en-US" sz="2762">
                <a:latin typeface="Courier New"/>
                <a:ea typeface="Courier New"/>
                <a:cs typeface="Courier New"/>
                <a:sym typeface="Courier New"/>
              </a:rPr>
              <a:t> -f 0x2 sample.sorted.bam | wc –l</a:t>
            </a:r>
            <a:endParaRPr sz="2762"/>
          </a:p>
          <a:p>
            <a:pPr indent="0" lvl="0" marL="0" rtl="0" algn="l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1100"/>
          </a:p>
          <a:p>
            <a:pPr indent="-117475" lvl="0" marL="228600" rtl="0" algn="l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capture the FLAG</a:t>
            </a:r>
            <a:endParaRPr/>
          </a:p>
        </p:txBody>
      </p:sp>
      <p:sp>
        <p:nvSpPr>
          <p:cNvPr id="151" name="Google Shape;151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1934" lvl="0" marL="2286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Now, let’s ask for alignments that are NOT properly paired. To do this, we use the -F option (note the capitalization to denote “opposite”).</a:t>
            </a:r>
            <a:endParaRPr/>
          </a:p>
          <a:p>
            <a:pPr indent="0" lvl="0" marL="0" rtl="0" algn="l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	</a:t>
            </a:r>
            <a:r>
              <a:rPr b="1" lang="en-US" sz="2762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samtools view </a:t>
            </a:r>
            <a:r>
              <a:rPr b="1" lang="en-US" sz="2762">
                <a:latin typeface="Courier New"/>
                <a:ea typeface="Courier New"/>
                <a:cs typeface="Courier New"/>
                <a:sym typeface="Courier New"/>
              </a:rPr>
              <a:t>-F 0x2 sample.sorted.bam</a:t>
            </a:r>
            <a:endParaRPr/>
          </a:p>
          <a:p>
            <a:pPr indent="-240982" lvl="0" marL="228600" rtl="0" algn="l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How many </a:t>
            </a:r>
            <a:r>
              <a:rPr i="1" lang="en-US" sz="2600"/>
              <a:t>improperly</a:t>
            </a:r>
            <a:r>
              <a:rPr lang="en-US" sz="2600"/>
              <a:t> paired alignments are</a:t>
            </a:r>
            <a:r>
              <a:rPr lang="en-US"/>
              <a:t> </a:t>
            </a:r>
            <a:r>
              <a:rPr lang="en-US" sz="2600"/>
              <a:t>there?</a:t>
            </a:r>
            <a:endParaRPr/>
          </a:p>
          <a:p>
            <a:pPr indent="0" lvl="0" marL="0" rtl="0" algn="l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	</a:t>
            </a:r>
            <a:r>
              <a:rPr b="1" lang="en-US" sz="2762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samtools view </a:t>
            </a:r>
            <a:r>
              <a:rPr b="1" lang="en-US" sz="2762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-F 0x2 sample.sorted.bam | wc –l</a:t>
            </a:r>
            <a:endParaRPr>
              <a:solidFill>
                <a:srgbClr val="000000"/>
              </a:solidFill>
            </a:endParaRPr>
          </a:p>
          <a:p>
            <a:pPr indent="-240982" lvl="0" marL="228600" rtl="0" algn="l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Does everything add up?</a:t>
            </a:r>
            <a:endParaRPr sz="2600"/>
          </a:p>
          <a:p>
            <a:pPr indent="0" lvl="0" marL="0" rtl="0" algn="l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64135" lvl="0" marL="228600" rtl="0" algn="l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3453bbc90c_0_3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FLAGs (field 2)</a:t>
            </a:r>
            <a:endParaRPr sz="4800"/>
          </a:p>
        </p:txBody>
      </p:sp>
      <p:pic>
        <p:nvPicPr>
          <p:cNvPr id="157" name="Google Shape;157;g13453bbc90c_0_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43225"/>
            <a:ext cx="11887200" cy="4505498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g13453bbc90c_0_35"/>
          <p:cNvSpPr txBox="1"/>
          <p:nvPr/>
        </p:nvSpPr>
        <p:spPr>
          <a:xfrm>
            <a:off x="7798300" y="688825"/>
            <a:ext cx="3147900" cy="115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alibri"/>
                <a:ea typeface="Calibri"/>
                <a:cs typeface="Calibri"/>
                <a:sym typeface="Calibri"/>
              </a:rPr>
              <a:t>how many mapped/unmapped reads?</a:t>
            </a:r>
            <a:endParaRPr b="1" sz="21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3453bbc90c_0_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SAM/BAM data fields (columns)</a:t>
            </a:r>
            <a:endParaRPr/>
          </a:p>
        </p:txBody>
      </p:sp>
      <p:pic>
        <p:nvPicPr>
          <p:cNvPr id="164" name="Google Shape;164;g13453bbc90c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100" y="2007321"/>
            <a:ext cx="11353800" cy="35996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3453bbc90c_0_4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MAPQ (field 5)</a:t>
            </a:r>
            <a:endParaRPr/>
          </a:p>
        </p:txBody>
      </p:sp>
      <p:sp>
        <p:nvSpPr>
          <p:cNvPr id="170" name="Google Shape;170;g13453bbc90c_0_4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Quality scores associated with the </a:t>
            </a:r>
            <a:r>
              <a:rPr lang="en-US" u="sng"/>
              <a:t>mapper </a:t>
            </a:r>
            <a:r>
              <a:rPr lang="en-US"/>
              <a:t>you used - operate in a similar way to phred scores but indicate the confidence in the alignment to reference…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/>
              <a:t>For bwa mem what is the max quality score?</a:t>
            </a:r>
            <a:endParaRPr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"/>
          <p:cNvSpPr txBox="1"/>
          <p:nvPr>
            <p:ph type="title"/>
          </p:nvPr>
        </p:nvSpPr>
        <p:spPr>
          <a:xfrm>
            <a:off x="81875" y="913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/>
              <a:t>CIGAR (field 6)</a:t>
            </a:r>
            <a:endParaRPr sz="4000"/>
          </a:p>
        </p:txBody>
      </p:sp>
      <p:pic>
        <p:nvPicPr>
          <p:cNvPr descr="Text&#10;&#10;Description automatically generated with medium confidence" id="176" name="Google Shape;176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17033"/>
          <a:stretch/>
        </p:blipFill>
        <p:spPr>
          <a:xfrm>
            <a:off x="1532550" y="1417075"/>
            <a:ext cx="9126900" cy="539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2021-07-12T16:38:12Z</dcterms:created>
  <dc:creator>Nicole Garrison</dc:creator>
</cp:coreProperties>
</file>